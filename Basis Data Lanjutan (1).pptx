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Neue Machina Ultra-Bold" charset="1" panose="00000900000000000000"/>
      <p:regular r:id="rId25"/>
    </p:embeddedFont>
    <p:embeddedFont>
      <p:font typeface="Telegraf" charset="1"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1864970"/>
            <a:ext cx="18288000" cy="6608660"/>
          </a:xfrm>
          <a:custGeom>
            <a:avLst/>
            <a:gdLst/>
            <a:ahLst/>
            <a:cxnLst/>
            <a:rect r="r" b="b" t="t" l="l"/>
            <a:pathLst>
              <a:path h="6608660" w="18288000">
                <a:moveTo>
                  <a:pt x="0" y="0"/>
                </a:moveTo>
                <a:lnTo>
                  <a:pt x="18288000" y="0"/>
                </a:lnTo>
                <a:lnTo>
                  <a:pt x="18288000" y="6608660"/>
                </a:lnTo>
                <a:lnTo>
                  <a:pt x="0" y="660866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176727"/>
            </a:stretch>
          </a:blipFill>
        </p:spPr>
      </p:sp>
      <p:grpSp>
        <p:nvGrpSpPr>
          <p:cNvPr name="Group 3" id="3"/>
          <p:cNvGrpSpPr/>
          <p:nvPr/>
        </p:nvGrpSpPr>
        <p:grpSpPr>
          <a:xfrm rot="0">
            <a:off x="2069254" y="6563383"/>
            <a:ext cx="7350316" cy="1042248"/>
            <a:chOff x="0" y="0"/>
            <a:chExt cx="1845258" cy="261651"/>
          </a:xfrm>
        </p:grpSpPr>
        <p:sp>
          <p:nvSpPr>
            <p:cNvPr name="Freeform 4" id="4"/>
            <p:cNvSpPr/>
            <p:nvPr/>
          </p:nvSpPr>
          <p:spPr>
            <a:xfrm flipH="false" flipV="false" rot="0">
              <a:off x="0" y="0"/>
              <a:ext cx="1845258" cy="261651"/>
            </a:xfrm>
            <a:custGeom>
              <a:avLst/>
              <a:gdLst/>
              <a:ahLst/>
              <a:cxnLst/>
              <a:rect r="r" b="b" t="t" l="l"/>
              <a:pathLst>
                <a:path h="261651" w="1845258">
                  <a:moveTo>
                    <a:pt x="105328" y="0"/>
                  </a:moveTo>
                  <a:lnTo>
                    <a:pt x="1739930" y="0"/>
                  </a:lnTo>
                  <a:cubicBezTo>
                    <a:pt x="1767865" y="0"/>
                    <a:pt x="1794655" y="11097"/>
                    <a:pt x="1814408" y="30850"/>
                  </a:cubicBezTo>
                  <a:cubicBezTo>
                    <a:pt x="1834161" y="50603"/>
                    <a:pt x="1845258" y="77393"/>
                    <a:pt x="1845258" y="105328"/>
                  </a:cubicBezTo>
                  <a:lnTo>
                    <a:pt x="1845258" y="156323"/>
                  </a:lnTo>
                  <a:cubicBezTo>
                    <a:pt x="1845258" y="214494"/>
                    <a:pt x="1798101" y="261651"/>
                    <a:pt x="1739930" y="261651"/>
                  </a:cubicBezTo>
                  <a:lnTo>
                    <a:pt x="105328" y="261651"/>
                  </a:lnTo>
                  <a:cubicBezTo>
                    <a:pt x="47157" y="261651"/>
                    <a:pt x="0" y="214494"/>
                    <a:pt x="0" y="156323"/>
                  </a:cubicBezTo>
                  <a:lnTo>
                    <a:pt x="0" y="105328"/>
                  </a:lnTo>
                  <a:cubicBezTo>
                    <a:pt x="0" y="47157"/>
                    <a:pt x="47157" y="0"/>
                    <a:pt x="105328" y="0"/>
                  </a:cubicBezTo>
                  <a:close/>
                </a:path>
              </a:pathLst>
            </a:custGeom>
            <a:solidFill>
              <a:srgbClr val="35CDCE"/>
            </a:solidFill>
          </p:spPr>
        </p:sp>
        <p:sp>
          <p:nvSpPr>
            <p:cNvPr name="TextBox 5" id="5"/>
            <p:cNvSpPr txBox="true"/>
            <p:nvPr/>
          </p:nvSpPr>
          <p:spPr>
            <a:xfrm>
              <a:off x="0" y="-57150"/>
              <a:ext cx="1845258" cy="318801"/>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2069254" y="3710377"/>
            <a:ext cx="8598900" cy="2175331"/>
          </a:xfrm>
          <a:prstGeom prst="rect">
            <a:avLst/>
          </a:prstGeom>
        </p:spPr>
        <p:txBody>
          <a:bodyPr anchor="t" rtlCol="false" tIns="0" lIns="0" bIns="0" rIns="0">
            <a:spAutoFit/>
          </a:bodyPr>
          <a:lstStyle/>
          <a:p>
            <a:pPr algn="l">
              <a:lnSpc>
                <a:spcPts val="8392"/>
              </a:lnSpc>
            </a:pPr>
            <a:r>
              <a:rPr lang="en-US" sz="8392" b="true">
                <a:solidFill>
                  <a:srgbClr val="FFFFFF"/>
                </a:solidFill>
                <a:latin typeface="Neue Machina Ultra-Bold"/>
                <a:ea typeface="Neue Machina Ultra-Bold"/>
                <a:cs typeface="Neue Machina Ultra-Bold"/>
                <a:sym typeface="Neue Machina Ultra-Bold"/>
              </a:rPr>
              <a:t>Basis Data Lanjutan</a:t>
            </a:r>
          </a:p>
        </p:txBody>
      </p:sp>
      <p:sp>
        <p:nvSpPr>
          <p:cNvPr name="TextBox 7" id="7"/>
          <p:cNvSpPr txBox="true"/>
          <p:nvPr/>
        </p:nvSpPr>
        <p:spPr>
          <a:xfrm rot="0">
            <a:off x="2661835" y="6685816"/>
            <a:ext cx="5277215" cy="653142"/>
          </a:xfrm>
          <a:prstGeom prst="rect">
            <a:avLst/>
          </a:prstGeom>
        </p:spPr>
        <p:txBody>
          <a:bodyPr anchor="t" rtlCol="false" tIns="0" lIns="0" bIns="0" rIns="0">
            <a:spAutoFit/>
          </a:bodyPr>
          <a:lstStyle/>
          <a:p>
            <a:pPr algn="ctr" marL="0" indent="0" lvl="0">
              <a:lnSpc>
                <a:spcPts val="5035"/>
              </a:lnSpc>
              <a:spcBef>
                <a:spcPct val="0"/>
              </a:spcBef>
            </a:pPr>
            <a:r>
              <a:rPr lang="en-US" sz="3357">
                <a:solidFill>
                  <a:srgbClr val="0B0727"/>
                </a:solidFill>
                <a:latin typeface="Telegraf"/>
                <a:ea typeface="Telegraf"/>
                <a:cs typeface="Telegraf"/>
                <a:sym typeface="Telegraf"/>
              </a:rPr>
              <a:t>Naufal Fadhlullah</a:t>
            </a:r>
          </a:p>
        </p:txBody>
      </p:sp>
      <p:sp>
        <p:nvSpPr>
          <p:cNvPr name="Freeform 8" id="8"/>
          <p:cNvSpPr/>
          <p:nvPr/>
        </p:nvSpPr>
        <p:spPr>
          <a:xfrm flipH="false" flipV="false" rot="0">
            <a:off x="2069254" y="2612156"/>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5400000">
            <a:off x="15170069" y="7599756"/>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231471">
            <a:off x="10339193" y="2203571"/>
            <a:ext cx="830267" cy="817170"/>
          </a:xfrm>
          <a:custGeom>
            <a:avLst/>
            <a:gdLst/>
            <a:ahLst/>
            <a:cxnLst/>
            <a:rect r="r" b="b" t="t" l="l"/>
            <a:pathLst>
              <a:path h="817170" w="830267">
                <a:moveTo>
                  <a:pt x="0" y="0"/>
                </a:moveTo>
                <a:lnTo>
                  <a:pt x="830267" y="0"/>
                </a:lnTo>
                <a:lnTo>
                  <a:pt x="830267" y="817170"/>
                </a:lnTo>
                <a:lnTo>
                  <a:pt x="0" y="8171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8090346" y="6563383"/>
            <a:ext cx="2006341" cy="1042248"/>
            <a:chOff x="0" y="0"/>
            <a:chExt cx="677881" cy="352144"/>
          </a:xfrm>
        </p:grpSpPr>
        <p:sp>
          <p:nvSpPr>
            <p:cNvPr name="Freeform 12" id="12"/>
            <p:cNvSpPr/>
            <p:nvPr/>
          </p:nvSpPr>
          <p:spPr>
            <a:xfrm flipH="false" flipV="false" rot="0">
              <a:off x="0" y="0"/>
              <a:ext cx="677881" cy="352144"/>
            </a:xfrm>
            <a:custGeom>
              <a:avLst/>
              <a:gdLst/>
              <a:ahLst/>
              <a:cxnLst/>
              <a:rect r="r" b="b" t="t" l="l"/>
              <a:pathLst>
                <a:path h="352144" w="677881">
                  <a:moveTo>
                    <a:pt x="474681" y="0"/>
                  </a:moveTo>
                  <a:cubicBezTo>
                    <a:pt x="586906" y="0"/>
                    <a:pt x="677881" y="78830"/>
                    <a:pt x="677881" y="176072"/>
                  </a:cubicBezTo>
                  <a:cubicBezTo>
                    <a:pt x="677881" y="273314"/>
                    <a:pt x="586906" y="352144"/>
                    <a:pt x="474681" y="352144"/>
                  </a:cubicBezTo>
                  <a:lnTo>
                    <a:pt x="203200" y="352144"/>
                  </a:lnTo>
                  <a:cubicBezTo>
                    <a:pt x="90976" y="352144"/>
                    <a:pt x="0" y="273314"/>
                    <a:pt x="0" y="176072"/>
                  </a:cubicBezTo>
                  <a:cubicBezTo>
                    <a:pt x="0" y="78830"/>
                    <a:pt x="90976" y="0"/>
                    <a:pt x="203200" y="0"/>
                  </a:cubicBezTo>
                  <a:close/>
                </a:path>
              </a:pathLst>
            </a:custGeom>
            <a:solidFill>
              <a:srgbClr val="F3D339"/>
            </a:solidFill>
          </p:spPr>
        </p:sp>
        <p:sp>
          <p:nvSpPr>
            <p:cNvPr name="TextBox 13" id="13"/>
            <p:cNvSpPr txBox="true"/>
            <p:nvPr/>
          </p:nvSpPr>
          <p:spPr>
            <a:xfrm>
              <a:off x="0" y="-47625"/>
              <a:ext cx="677881" cy="39976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776842" y="6828691"/>
            <a:ext cx="633348" cy="504304"/>
          </a:xfrm>
          <a:custGeom>
            <a:avLst/>
            <a:gdLst/>
            <a:ahLst/>
            <a:cxnLst/>
            <a:rect r="r" b="b" t="t" l="l"/>
            <a:pathLst>
              <a:path h="504304" w="633348">
                <a:moveTo>
                  <a:pt x="0" y="0"/>
                </a:moveTo>
                <a:lnTo>
                  <a:pt x="633349" y="0"/>
                </a:lnTo>
                <a:lnTo>
                  <a:pt x="633349" y="504304"/>
                </a:lnTo>
                <a:lnTo>
                  <a:pt x="0" y="5043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694212" y="1716290"/>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87800" y="-2739845"/>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4">
              <a:alphaModFix amt="4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722610" y="1697114"/>
            <a:ext cx="7024262" cy="848360"/>
          </a:xfrm>
          <a:prstGeom prst="rect">
            <a:avLst/>
          </a:prstGeom>
        </p:spPr>
        <p:txBody>
          <a:bodyPr anchor="t" rtlCol="false" tIns="0" lIns="0" bIns="0" rIns="0">
            <a:spAutoFit/>
          </a:bodyPr>
          <a:lstStyle/>
          <a:p>
            <a:pPr algn="l">
              <a:lnSpc>
                <a:spcPts val="6399"/>
              </a:lnSpc>
            </a:pPr>
            <a:r>
              <a:rPr lang="en-US" sz="6399" b="true">
                <a:solidFill>
                  <a:srgbClr val="FFFFFF"/>
                </a:solidFill>
                <a:latin typeface="Neue Machina Ultra-Bold"/>
                <a:ea typeface="Neue Machina Ultra-Bold"/>
                <a:cs typeface="Neue Machina Ultra-Bold"/>
                <a:sym typeface="Neue Machina Ultra-Bold"/>
              </a:rPr>
              <a:t>Big Data</a:t>
            </a:r>
          </a:p>
        </p:txBody>
      </p:sp>
      <p:sp>
        <p:nvSpPr>
          <p:cNvPr name="TextBox 5" id="5"/>
          <p:cNvSpPr txBox="true"/>
          <p:nvPr/>
        </p:nvSpPr>
        <p:spPr>
          <a:xfrm rot="0">
            <a:off x="7722610" y="2621674"/>
            <a:ext cx="8698275" cy="5903046"/>
          </a:xfrm>
          <a:prstGeom prst="rect">
            <a:avLst/>
          </a:prstGeom>
        </p:spPr>
        <p:txBody>
          <a:bodyPr anchor="t" rtlCol="false" tIns="0" lIns="0" bIns="0" rIns="0">
            <a:spAutoFit/>
          </a:bodyPr>
          <a:lstStyle/>
          <a:p>
            <a:pPr algn="just" marL="0" indent="0" lvl="0">
              <a:lnSpc>
                <a:spcPts val="4721"/>
              </a:lnSpc>
              <a:spcBef>
                <a:spcPct val="0"/>
              </a:spcBef>
            </a:pPr>
            <a:r>
              <a:rPr lang="en-US" sz="3147">
                <a:solidFill>
                  <a:srgbClr val="FFFFFF"/>
                </a:solidFill>
                <a:latin typeface="Telegraf"/>
                <a:ea typeface="Telegraf"/>
                <a:cs typeface="Telegraf"/>
                <a:sym typeface="Telegraf"/>
              </a:rPr>
              <a:t>Data adalah sekumpulan informasi yang terdiri dari beberapa fakta yang dapat berbentuk angka, kata-kata, atau simbol-simbol tertentu. Big data adalah sekumpulan data yang memiliki volume atau ukuran yang sangat besar yang terdiri dari data yang terstruktur (structured), semi-terstruktur (semi structured), dan tidak terstruktur (unstructured) yang dapat berkembang seiring waktu berjalan. </a:t>
            </a:r>
          </a:p>
        </p:txBody>
      </p:sp>
      <p:sp>
        <p:nvSpPr>
          <p:cNvPr name="Freeform 6" id="6"/>
          <p:cNvSpPr/>
          <p:nvPr/>
        </p:nvSpPr>
        <p:spPr>
          <a:xfrm flipH="false" flipV="false" rot="0">
            <a:off x="8276218" y="8738931"/>
            <a:ext cx="3907018" cy="248628"/>
          </a:xfrm>
          <a:custGeom>
            <a:avLst/>
            <a:gdLst/>
            <a:ahLst/>
            <a:cxnLst/>
            <a:rect r="r" b="b" t="t" l="l"/>
            <a:pathLst>
              <a:path h="248628" w="3907018">
                <a:moveTo>
                  <a:pt x="0" y="0"/>
                </a:moveTo>
                <a:lnTo>
                  <a:pt x="3907018" y="0"/>
                </a:lnTo>
                <a:lnTo>
                  <a:pt x="3907018" y="248629"/>
                </a:lnTo>
                <a:lnTo>
                  <a:pt x="0" y="248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231471">
            <a:off x="16367043" y="8370660"/>
            <a:ext cx="748347" cy="736542"/>
          </a:xfrm>
          <a:custGeom>
            <a:avLst/>
            <a:gdLst/>
            <a:ahLst/>
            <a:cxnLst/>
            <a:rect r="r" b="b" t="t" l="l"/>
            <a:pathLst>
              <a:path h="736542" w="748347">
                <a:moveTo>
                  <a:pt x="0" y="0"/>
                </a:moveTo>
                <a:lnTo>
                  <a:pt x="748347" y="0"/>
                </a:lnTo>
                <a:lnTo>
                  <a:pt x="748347" y="736542"/>
                </a:lnTo>
                <a:lnTo>
                  <a:pt x="0" y="7365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0162876" y="-1690261"/>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6220566" y="8219566"/>
            <a:ext cx="1032858" cy="1044610"/>
          </a:xfrm>
          <a:custGeom>
            <a:avLst/>
            <a:gdLst/>
            <a:ahLst/>
            <a:cxnLst/>
            <a:rect r="r" b="b" t="t" l="l"/>
            <a:pathLst>
              <a:path h="1044610" w="1032858">
                <a:moveTo>
                  <a:pt x="0" y="1044610"/>
                </a:moveTo>
                <a:lnTo>
                  <a:pt x="1032858" y="1044610"/>
                </a:lnTo>
                <a:lnTo>
                  <a:pt x="1032858" y="0"/>
                </a:lnTo>
                <a:lnTo>
                  <a:pt x="0" y="0"/>
                </a:lnTo>
                <a:lnTo>
                  <a:pt x="0" y="104461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833708" y="1028700"/>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231471">
            <a:off x="9816363" y="1623873"/>
            <a:ext cx="748347" cy="736542"/>
          </a:xfrm>
          <a:custGeom>
            <a:avLst/>
            <a:gdLst/>
            <a:ahLst/>
            <a:cxnLst/>
            <a:rect r="r" b="b" t="t" l="l"/>
            <a:pathLst>
              <a:path h="736542" w="748347">
                <a:moveTo>
                  <a:pt x="0" y="0"/>
                </a:moveTo>
                <a:lnTo>
                  <a:pt x="748347" y="0"/>
                </a:lnTo>
                <a:lnTo>
                  <a:pt x="748347" y="736541"/>
                </a:lnTo>
                <a:lnTo>
                  <a:pt x="0" y="7365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28700" y="8539012"/>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898641" y="3503272"/>
            <a:ext cx="7773812" cy="1741412"/>
          </a:xfrm>
          <a:prstGeom prst="rect">
            <a:avLst/>
          </a:prstGeom>
        </p:spPr>
        <p:txBody>
          <a:bodyPr anchor="t" rtlCol="false" tIns="0" lIns="0" bIns="0" rIns="0">
            <a:spAutoFit/>
          </a:bodyPr>
          <a:lstStyle/>
          <a:p>
            <a:pPr algn="l">
              <a:lnSpc>
                <a:spcPts val="13094"/>
              </a:lnSpc>
            </a:pPr>
            <a:r>
              <a:rPr lang="en-US" sz="13094" b="true">
                <a:solidFill>
                  <a:srgbClr val="FFFFFF"/>
                </a:solidFill>
                <a:latin typeface="Neue Machina Ultra-Bold"/>
                <a:ea typeface="Neue Machina Ultra-Bold"/>
                <a:cs typeface="Neue Machina Ultra-Bold"/>
                <a:sym typeface="Neue Machina Ultra-Bold"/>
              </a:rPr>
              <a:t>THREE V</a:t>
            </a:r>
          </a:p>
        </p:txBody>
      </p:sp>
      <p:sp>
        <p:nvSpPr>
          <p:cNvPr name="TextBox 8" id="8"/>
          <p:cNvSpPr txBox="true"/>
          <p:nvPr/>
        </p:nvSpPr>
        <p:spPr>
          <a:xfrm rot="-522866">
            <a:off x="1766723" y="6083223"/>
            <a:ext cx="3617568" cy="656504"/>
          </a:xfrm>
          <a:prstGeom prst="rect">
            <a:avLst/>
          </a:prstGeom>
        </p:spPr>
        <p:txBody>
          <a:bodyPr anchor="t" rtlCol="false" tIns="0" lIns="0" bIns="0" rIns="0">
            <a:spAutoFit/>
          </a:bodyPr>
          <a:lstStyle/>
          <a:p>
            <a:pPr algn="l" marL="0" indent="0" lvl="0">
              <a:lnSpc>
                <a:spcPts val="5170"/>
              </a:lnSpc>
              <a:spcBef>
                <a:spcPct val="0"/>
              </a:spcBef>
            </a:pPr>
            <a:r>
              <a:rPr lang="en-US" sz="3447">
                <a:solidFill>
                  <a:srgbClr val="FFFFFF"/>
                </a:solidFill>
                <a:latin typeface="Telegraf"/>
                <a:ea typeface="Telegraf"/>
                <a:cs typeface="Telegraf"/>
                <a:sym typeface="Telegraf"/>
              </a:rPr>
              <a:t>apasih Three V?</a:t>
            </a:r>
          </a:p>
        </p:txBody>
      </p:sp>
      <p:sp>
        <p:nvSpPr>
          <p:cNvPr name="TextBox 9" id="9"/>
          <p:cNvSpPr txBox="true"/>
          <p:nvPr/>
        </p:nvSpPr>
        <p:spPr>
          <a:xfrm rot="1144606">
            <a:off x="6232109" y="1354753"/>
            <a:ext cx="2931809" cy="656504"/>
          </a:xfrm>
          <a:prstGeom prst="rect">
            <a:avLst/>
          </a:prstGeom>
        </p:spPr>
        <p:txBody>
          <a:bodyPr anchor="t" rtlCol="false" tIns="0" lIns="0" bIns="0" rIns="0">
            <a:spAutoFit/>
          </a:bodyPr>
          <a:lstStyle/>
          <a:p>
            <a:pPr algn="l" marL="0" indent="0" lvl="0">
              <a:lnSpc>
                <a:spcPts val="5170"/>
              </a:lnSpc>
              <a:spcBef>
                <a:spcPct val="0"/>
              </a:spcBef>
            </a:pPr>
            <a:r>
              <a:rPr lang="en-US" sz="3447">
                <a:solidFill>
                  <a:srgbClr val="FFFFFF"/>
                </a:solidFill>
                <a:latin typeface="Telegraf"/>
                <a:ea typeface="Telegraf"/>
                <a:cs typeface="Telegraf"/>
                <a:sym typeface="Telegraf"/>
              </a:rPr>
              <a:t>baru denger</a:t>
            </a:r>
          </a:p>
        </p:txBody>
      </p:sp>
      <p:sp>
        <p:nvSpPr>
          <p:cNvPr name="TextBox 10" id="10"/>
          <p:cNvSpPr txBox="true"/>
          <p:nvPr/>
        </p:nvSpPr>
        <p:spPr>
          <a:xfrm rot="-1730899">
            <a:off x="1337360" y="1679832"/>
            <a:ext cx="2356033" cy="656504"/>
          </a:xfrm>
          <a:prstGeom prst="rect">
            <a:avLst/>
          </a:prstGeom>
        </p:spPr>
        <p:txBody>
          <a:bodyPr anchor="t" rtlCol="false" tIns="0" lIns="0" bIns="0" rIns="0">
            <a:spAutoFit/>
          </a:bodyPr>
          <a:lstStyle/>
          <a:p>
            <a:pPr algn="l" marL="0" indent="0" lvl="0">
              <a:lnSpc>
                <a:spcPts val="5170"/>
              </a:lnSpc>
              <a:spcBef>
                <a:spcPct val="0"/>
              </a:spcBef>
            </a:pPr>
            <a:r>
              <a:rPr lang="en-US" sz="3447">
                <a:solidFill>
                  <a:srgbClr val="FFFFFF"/>
                </a:solidFill>
                <a:latin typeface="Telegraf"/>
                <a:ea typeface="Telegraf"/>
                <a:cs typeface="Telegraf"/>
                <a:sym typeface="Telegraf"/>
              </a:rPr>
              <a:t>hah?????</a:t>
            </a:r>
          </a:p>
        </p:txBody>
      </p:sp>
      <p:sp>
        <p:nvSpPr>
          <p:cNvPr name="TextBox 11" id="11"/>
          <p:cNvSpPr txBox="true"/>
          <p:nvPr/>
        </p:nvSpPr>
        <p:spPr>
          <a:xfrm rot="1171728">
            <a:off x="6235267" y="6405292"/>
            <a:ext cx="3617568" cy="656504"/>
          </a:xfrm>
          <a:prstGeom prst="rect">
            <a:avLst/>
          </a:prstGeom>
        </p:spPr>
        <p:txBody>
          <a:bodyPr anchor="t" rtlCol="false" tIns="0" lIns="0" bIns="0" rIns="0">
            <a:spAutoFit/>
          </a:bodyPr>
          <a:lstStyle/>
          <a:p>
            <a:pPr algn="l" marL="0" indent="0" lvl="0">
              <a:lnSpc>
                <a:spcPts val="5170"/>
              </a:lnSpc>
              <a:spcBef>
                <a:spcPct val="0"/>
              </a:spcBef>
            </a:pPr>
            <a:r>
              <a:rPr lang="en-US" sz="3447">
                <a:solidFill>
                  <a:srgbClr val="FFFFFF"/>
                </a:solidFill>
                <a:latin typeface="Telegraf"/>
                <a:ea typeface="Telegraf"/>
                <a:cs typeface="Telegraf"/>
                <a:sym typeface="Telegraf"/>
              </a:rPr>
              <a:t>aduh apalagi ini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0210827" y="-2866535"/>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80982" y="9009672"/>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647339" y="1877840"/>
            <a:ext cx="7599143" cy="1927861"/>
          </a:xfrm>
          <a:prstGeom prst="rect">
            <a:avLst/>
          </a:prstGeom>
        </p:spPr>
        <p:txBody>
          <a:bodyPr anchor="t" rtlCol="false" tIns="0" lIns="0" bIns="0" rIns="0">
            <a:spAutoFit/>
          </a:bodyPr>
          <a:lstStyle/>
          <a:p>
            <a:pPr algn="l" marL="0" indent="0" lvl="0">
              <a:lnSpc>
                <a:spcPts val="5099"/>
              </a:lnSpc>
              <a:spcBef>
                <a:spcPct val="0"/>
              </a:spcBef>
            </a:pPr>
            <a:r>
              <a:rPr lang="en-US" sz="3399">
                <a:solidFill>
                  <a:srgbClr val="FFFFFF"/>
                </a:solidFill>
                <a:latin typeface="Telegraf"/>
                <a:ea typeface="Telegraf"/>
                <a:cs typeface="Telegraf"/>
                <a:sym typeface="Telegraf"/>
              </a:rPr>
              <a:t>volume adalah salah satu aspek yang harus dipertimbangkan dalam menangani big data.</a:t>
            </a:r>
          </a:p>
        </p:txBody>
      </p:sp>
      <p:sp>
        <p:nvSpPr>
          <p:cNvPr name="TextBox 5" id="5"/>
          <p:cNvSpPr txBox="true"/>
          <p:nvPr/>
        </p:nvSpPr>
        <p:spPr>
          <a:xfrm rot="0">
            <a:off x="8457193" y="1363370"/>
            <a:ext cx="7024262" cy="491490"/>
          </a:xfrm>
          <a:prstGeom prst="rect">
            <a:avLst/>
          </a:prstGeom>
        </p:spPr>
        <p:txBody>
          <a:bodyPr anchor="t" rtlCol="false" tIns="0" lIns="0" bIns="0" rIns="0">
            <a:spAutoFit/>
          </a:bodyPr>
          <a:lstStyle/>
          <a:p>
            <a:pPr algn="l" marL="777240" indent="-388620" lvl="1">
              <a:lnSpc>
                <a:spcPts val="3600"/>
              </a:lnSpc>
              <a:buAutoNum type="arabicPeriod" startAt="1"/>
            </a:pPr>
            <a:r>
              <a:rPr lang="en-US" b="true" sz="3600">
                <a:solidFill>
                  <a:srgbClr val="FFFFFF"/>
                </a:solidFill>
                <a:latin typeface="Neue Machina Ultra-Bold"/>
                <a:ea typeface="Neue Machina Ultra-Bold"/>
                <a:cs typeface="Neue Machina Ultra-Bold"/>
                <a:sym typeface="Neue Machina Ultra-Bold"/>
              </a:rPr>
              <a:t>Volume</a:t>
            </a:r>
          </a:p>
        </p:txBody>
      </p:sp>
      <p:sp>
        <p:nvSpPr>
          <p:cNvPr name="TextBox 6" id="6"/>
          <p:cNvSpPr txBox="true"/>
          <p:nvPr/>
        </p:nvSpPr>
        <p:spPr>
          <a:xfrm rot="0">
            <a:off x="8647339" y="5087548"/>
            <a:ext cx="8977771" cy="3674745"/>
          </a:xfrm>
          <a:prstGeom prst="rect">
            <a:avLst/>
          </a:prstGeom>
        </p:spPr>
        <p:txBody>
          <a:bodyPr anchor="t" rtlCol="false" tIns="0" lIns="0" bIns="0" rIns="0">
            <a:spAutoFit/>
          </a:bodyPr>
          <a:lstStyle/>
          <a:p>
            <a:pPr algn="l" marL="0" indent="0" lvl="0">
              <a:lnSpc>
                <a:spcPts val="4199"/>
              </a:lnSpc>
              <a:spcBef>
                <a:spcPct val="0"/>
              </a:spcBef>
            </a:pPr>
            <a:r>
              <a:rPr lang="en-US" sz="2799">
                <a:solidFill>
                  <a:srgbClr val="FFFFFF"/>
                </a:solidFill>
                <a:latin typeface="Telegraf"/>
                <a:ea typeface="Telegraf"/>
                <a:cs typeface="Telegraf"/>
                <a:sym typeface="Telegraf"/>
              </a:rPr>
              <a:t>mengacu pada kecepatan data, seberapa cepat data dapat dihasilkan dan seberapa cepat data dapat diproses dan dianalisis untuk memenuhi suatu kebutuhan. Selain pengumpulan datanya yang harus cepat, kecepatan transfer data juga sangat berpengaruh, terlebih lagi dalam proses pengiriman data</a:t>
            </a:r>
          </a:p>
        </p:txBody>
      </p:sp>
      <p:sp>
        <p:nvSpPr>
          <p:cNvPr name="TextBox 7" id="7"/>
          <p:cNvSpPr txBox="true"/>
          <p:nvPr/>
        </p:nvSpPr>
        <p:spPr>
          <a:xfrm rot="0">
            <a:off x="8934779" y="4499121"/>
            <a:ext cx="7024262" cy="491490"/>
          </a:xfrm>
          <a:prstGeom prst="rect">
            <a:avLst/>
          </a:prstGeom>
        </p:spPr>
        <p:txBody>
          <a:bodyPr anchor="t" rtlCol="false" tIns="0" lIns="0" bIns="0" rIns="0">
            <a:spAutoFit/>
          </a:bodyPr>
          <a:lstStyle/>
          <a:p>
            <a:pPr algn="l">
              <a:lnSpc>
                <a:spcPts val="3600"/>
              </a:lnSpc>
            </a:pPr>
            <a:r>
              <a:rPr lang="en-US" sz="3600" b="true">
                <a:solidFill>
                  <a:srgbClr val="FFFFFF"/>
                </a:solidFill>
                <a:latin typeface="Neue Machina Ultra-Bold"/>
                <a:ea typeface="Neue Machina Ultra-Bold"/>
                <a:cs typeface="Neue Machina Ultra-Bold"/>
                <a:sym typeface="Neue Machina Ultra-Bold"/>
              </a:rPr>
              <a:t>2. Velocity</a:t>
            </a:r>
          </a:p>
        </p:txBody>
      </p:sp>
      <p:sp>
        <p:nvSpPr>
          <p:cNvPr name="Freeform 8" id="8"/>
          <p:cNvSpPr/>
          <p:nvPr/>
        </p:nvSpPr>
        <p:spPr>
          <a:xfrm flipH="true" flipV="true" rot="-5400000">
            <a:off x="1034344" y="8260642"/>
            <a:ext cx="992015" cy="1003302"/>
          </a:xfrm>
          <a:custGeom>
            <a:avLst/>
            <a:gdLst/>
            <a:ahLst/>
            <a:cxnLst/>
            <a:rect r="r" b="b" t="t" l="l"/>
            <a:pathLst>
              <a:path h="1003302" w="992015">
                <a:moveTo>
                  <a:pt x="992014" y="1003302"/>
                </a:moveTo>
                <a:lnTo>
                  <a:pt x="0" y="1003302"/>
                </a:lnTo>
                <a:lnTo>
                  <a:pt x="0" y="0"/>
                </a:lnTo>
                <a:lnTo>
                  <a:pt x="992014" y="0"/>
                </a:lnTo>
                <a:lnTo>
                  <a:pt x="992014" y="1003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231471">
            <a:off x="16456457" y="1268424"/>
            <a:ext cx="634237" cy="624232"/>
          </a:xfrm>
          <a:custGeom>
            <a:avLst/>
            <a:gdLst/>
            <a:ahLst/>
            <a:cxnLst/>
            <a:rect r="r" b="b" t="t" l="l"/>
            <a:pathLst>
              <a:path h="624232" w="634237">
                <a:moveTo>
                  <a:pt x="0" y="0"/>
                </a:moveTo>
                <a:lnTo>
                  <a:pt x="634238" y="0"/>
                </a:lnTo>
                <a:lnTo>
                  <a:pt x="634238" y="624232"/>
                </a:lnTo>
                <a:lnTo>
                  <a:pt x="0" y="624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136377">
            <a:off x="6983081" y="7399934"/>
            <a:ext cx="634237" cy="624232"/>
          </a:xfrm>
          <a:custGeom>
            <a:avLst/>
            <a:gdLst/>
            <a:ahLst/>
            <a:cxnLst/>
            <a:rect r="r" b="b" t="t" l="l"/>
            <a:pathLst>
              <a:path h="624232" w="634237">
                <a:moveTo>
                  <a:pt x="0" y="0"/>
                </a:moveTo>
                <a:lnTo>
                  <a:pt x="634237" y="0"/>
                </a:lnTo>
                <a:lnTo>
                  <a:pt x="634237" y="624232"/>
                </a:lnTo>
                <a:lnTo>
                  <a:pt x="0" y="624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0210827" y="-2866535"/>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80982" y="9009672"/>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744634" y="4027779"/>
            <a:ext cx="8909365" cy="4421013"/>
          </a:xfrm>
          <a:prstGeom prst="rect">
            <a:avLst/>
          </a:prstGeom>
        </p:spPr>
        <p:txBody>
          <a:bodyPr anchor="t" rtlCol="false" tIns="0" lIns="0" bIns="0" rIns="0">
            <a:spAutoFit/>
          </a:bodyPr>
          <a:lstStyle/>
          <a:p>
            <a:pPr algn="l" marL="0" indent="0" lvl="0">
              <a:lnSpc>
                <a:spcPts val="4418"/>
              </a:lnSpc>
              <a:spcBef>
                <a:spcPct val="0"/>
              </a:spcBef>
            </a:pPr>
            <a:r>
              <a:rPr lang="en-US" sz="2945">
                <a:solidFill>
                  <a:srgbClr val="FFFFFF"/>
                </a:solidFill>
                <a:latin typeface="Telegraf"/>
                <a:ea typeface="Telegraf"/>
                <a:cs typeface="Telegraf"/>
                <a:sym typeface="Telegraf"/>
              </a:rPr>
              <a:t>beragamnya jenis data yang dimiliki oleh big data. Biasanya tipe data traditional lebih terstruktur, akan tetapi seiring berkembangnya big data, banyak data baru dengan bentuk data yang unstructured (tidak terstruktur) dan semi structured (semi-terstruktur), seperti contohnya sebuah text, atau data yang berupa audio, dan video. </a:t>
            </a:r>
          </a:p>
        </p:txBody>
      </p:sp>
      <p:sp>
        <p:nvSpPr>
          <p:cNvPr name="TextBox 5" id="5"/>
          <p:cNvSpPr txBox="true"/>
          <p:nvPr/>
        </p:nvSpPr>
        <p:spPr>
          <a:xfrm rot="0">
            <a:off x="8744634" y="3050731"/>
            <a:ext cx="7024262" cy="491490"/>
          </a:xfrm>
          <a:prstGeom prst="rect">
            <a:avLst/>
          </a:prstGeom>
        </p:spPr>
        <p:txBody>
          <a:bodyPr anchor="t" rtlCol="false" tIns="0" lIns="0" bIns="0" rIns="0">
            <a:spAutoFit/>
          </a:bodyPr>
          <a:lstStyle/>
          <a:p>
            <a:pPr algn="l">
              <a:lnSpc>
                <a:spcPts val="3600"/>
              </a:lnSpc>
            </a:pPr>
            <a:r>
              <a:rPr lang="en-US" sz="3600" b="true">
                <a:solidFill>
                  <a:srgbClr val="FFFFFF"/>
                </a:solidFill>
                <a:latin typeface="Neue Machina Ultra-Bold"/>
                <a:ea typeface="Neue Machina Ultra-Bold"/>
                <a:cs typeface="Neue Machina Ultra-Bold"/>
                <a:sym typeface="Neue Machina Ultra-Bold"/>
              </a:rPr>
              <a:t>3. Variety</a:t>
            </a:r>
          </a:p>
        </p:txBody>
      </p:sp>
      <p:sp>
        <p:nvSpPr>
          <p:cNvPr name="Freeform 6" id="6"/>
          <p:cNvSpPr/>
          <p:nvPr/>
        </p:nvSpPr>
        <p:spPr>
          <a:xfrm flipH="true" flipV="true" rot="-5400000">
            <a:off x="1034344" y="8260642"/>
            <a:ext cx="992015" cy="1003302"/>
          </a:xfrm>
          <a:custGeom>
            <a:avLst/>
            <a:gdLst/>
            <a:ahLst/>
            <a:cxnLst/>
            <a:rect r="r" b="b" t="t" l="l"/>
            <a:pathLst>
              <a:path h="1003302" w="992015">
                <a:moveTo>
                  <a:pt x="992014" y="1003302"/>
                </a:moveTo>
                <a:lnTo>
                  <a:pt x="0" y="1003302"/>
                </a:lnTo>
                <a:lnTo>
                  <a:pt x="0" y="0"/>
                </a:lnTo>
                <a:lnTo>
                  <a:pt x="992014" y="0"/>
                </a:lnTo>
                <a:lnTo>
                  <a:pt x="992014" y="1003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231471">
            <a:off x="16456457" y="1268424"/>
            <a:ext cx="634237" cy="624232"/>
          </a:xfrm>
          <a:custGeom>
            <a:avLst/>
            <a:gdLst/>
            <a:ahLst/>
            <a:cxnLst/>
            <a:rect r="r" b="b" t="t" l="l"/>
            <a:pathLst>
              <a:path h="624232" w="634237">
                <a:moveTo>
                  <a:pt x="0" y="0"/>
                </a:moveTo>
                <a:lnTo>
                  <a:pt x="634238" y="0"/>
                </a:lnTo>
                <a:lnTo>
                  <a:pt x="634238" y="624232"/>
                </a:lnTo>
                <a:lnTo>
                  <a:pt x="0" y="624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136377">
            <a:off x="6983081" y="7399934"/>
            <a:ext cx="634237" cy="624232"/>
          </a:xfrm>
          <a:custGeom>
            <a:avLst/>
            <a:gdLst/>
            <a:ahLst/>
            <a:cxnLst/>
            <a:rect r="r" b="b" t="t" l="l"/>
            <a:pathLst>
              <a:path h="624232" w="634237">
                <a:moveTo>
                  <a:pt x="0" y="0"/>
                </a:moveTo>
                <a:lnTo>
                  <a:pt x="634237" y="0"/>
                </a:lnTo>
                <a:lnTo>
                  <a:pt x="634237" y="624232"/>
                </a:lnTo>
                <a:lnTo>
                  <a:pt x="0" y="624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7493169"/>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94109" y="3779125"/>
            <a:ext cx="9417241" cy="4950835"/>
            <a:chOff x="0" y="0"/>
            <a:chExt cx="2480261" cy="1303924"/>
          </a:xfrm>
        </p:grpSpPr>
        <p:sp>
          <p:nvSpPr>
            <p:cNvPr name="Freeform 4" id="4"/>
            <p:cNvSpPr/>
            <p:nvPr/>
          </p:nvSpPr>
          <p:spPr>
            <a:xfrm flipH="false" flipV="false" rot="0">
              <a:off x="0" y="0"/>
              <a:ext cx="2480261" cy="1303924"/>
            </a:xfrm>
            <a:custGeom>
              <a:avLst/>
              <a:gdLst/>
              <a:ahLst/>
              <a:cxnLst/>
              <a:rect r="r" b="b" t="t" l="l"/>
              <a:pathLst>
                <a:path h="1303924" w="2480261">
                  <a:moveTo>
                    <a:pt x="41105" y="0"/>
                  </a:moveTo>
                  <a:lnTo>
                    <a:pt x="2439156" y="0"/>
                  </a:lnTo>
                  <a:cubicBezTo>
                    <a:pt x="2461858" y="0"/>
                    <a:pt x="2480261" y="18403"/>
                    <a:pt x="2480261" y="41105"/>
                  </a:cubicBezTo>
                  <a:lnTo>
                    <a:pt x="2480261" y="1262819"/>
                  </a:lnTo>
                  <a:cubicBezTo>
                    <a:pt x="2480261" y="1285520"/>
                    <a:pt x="2461858" y="1303924"/>
                    <a:pt x="2439156" y="1303924"/>
                  </a:cubicBezTo>
                  <a:lnTo>
                    <a:pt x="41105" y="1303924"/>
                  </a:lnTo>
                  <a:cubicBezTo>
                    <a:pt x="18403" y="1303924"/>
                    <a:pt x="0" y="1285520"/>
                    <a:pt x="0" y="1262819"/>
                  </a:cubicBezTo>
                  <a:lnTo>
                    <a:pt x="0" y="41105"/>
                  </a:lnTo>
                  <a:cubicBezTo>
                    <a:pt x="0" y="18403"/>
                    <a:pt x="18403" y="0"/>
                    <a:pt x="41105" y="0"/>
                  </a:cubicBezTo>
                  <a:close/>
                </a:path>
              </a:pathLst>
            </a:custGeom>
            <a:solidFill>
              <a:srgbClr val="FFFFFF"/>
            </a:solidFill>
          </p:spPr>
        </p:sp>
        <p:sp>
          <p:nvSpPr>
            <p:cNvPr name="TextBox 5" id="5"/>
            <p:cNvSpPr txBox="true"/>
            <p:nvPr/>
          </p:nvSpPr>
          <p:spPr>
            <a:xfrm>
              <a:off x="0" y="-57150"/>
              <a:ext cx="2480261" cy="1361074"/>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1394109" y="1680865"/>
            <a:ext cx="9417241" cy="1657985"/>
          </a:xfrm>
          <a:prstGeom prst="rect">
            <a:avLst/>
          </a:prstGeom>
        </p:spPr>
        <p:txBody>
          <a:bodyPr anchor="t" rtlCol="false" tIns="0" lIns="0" bIns="0" rIns="0">
            <a:spAutoFit/>
          </a:bodyPr>
          <a:lstStyle/>
          <a:p>
            <a:pPr algn="ctr">
              <a:lnSpc>
                <a:spcPts val="6399"/>
              </a:lnSpc>
            </a:pPr>
            <a:r>
              <a:rPr lang="en-US" b="true" sz="6399">
                <a:solidFill>
                  <a:srgbClr val="FFFFFF"/>
                </a:solidFill>
                <a:latin typeface="Neue Machina Ultra-Bold"/>
                <a:ea typeface="Neue Machina Ultra-Bold"/>
                <a:cs typeface="Neue Machina Ultra-Bold"/>
                <a:sym typeface="Neue Machina Ultra-Bold"/>
              </a:rPr>
              <a:t>karakteristik tambahan</a:t>
            </a:r>
          </a:p>
        </p:txBody>
      </p:sp>
      <p:sp>
        <p:nvSpPr>
          <p:cNvPr name="TextBox 7" id="7"/>
          <p:cNvSpPr txBox="true"/>
          <p:nvPr/>
        </p:nvSpPr>
        <p:spPr>
          <a:xfrm rot="0">
            <a:off x="2438718" y="5317579"/>
            <a:ext cx="7615116" cy="3163752"/>
          </a:xfrm>
          <a:prstGeom prst="rect">
            <a:avLst/>
          </a:prstGeom>
        </p:spPr>
        <p:txBody>
          <a:bodyPr anchor="t" rtlCol="false" tIns="0" lIns="0" bIns="0" rIns="0">
            <a:spAutoFit/>
          </a:bodyPr>
          <a:lstStyle/>
          <a:p>
            <a:pPr algn="l" marL="0" indent="0" lvl="0">
              <a:lnSpc>
                <a:spcPts val="5049"/>
              </a:lnSpc>
              <a:spcBef>
                <a:spcPct val="0"/>
              </a:spcBef>
            </a:pPr>
            <a:r>
              <a:rPr lang="en-US" sz="3366">
                <a:solidFill>
                  <a:srgbClr val="0B0727"/>
                </a:solidFill>
                <a:latin typeface="Telegraf"/>
                <a:ea typeface="Telegraf"/>
                <a:cs typeface="Telegraf"/>
                <a:sym typeface="Telegraf"/>
              </a:rPr>
              <a:t>Sebuah data dapat disebut memiliki value jika hasil dari pemrosesan data tersebut dapat membantu dalam pengambilan keputusan yang lebih baik</a:t>
            </a:r>
          </a:p>
        </p:txBody>
      </p:sp>
      <p:sp>
        <p:nvSpPr>
          <p:cNvPr name="TextBox 8" id="8"/>
          <p:cNvSpPr txBox="true"/>
          <p:nvPr/>
        </p:nvSpPr>
        <p:spPr>
          <a:xfrm rot="0">
            <a:off x="2438718" y="4717014"/>
            <a:ext cx="7024262" cy="491490"/>
          </a:xfrm>
          <a:prstGeom prst="rect">
            <a:avLst/>
          </a:prstGeom>
        </p:spPr>
        <p:txBody>
          <a:bodyPr anchor="t" rtlCol="false" tIns="0" lIns="0" bIns="0" rIns="0">
            <a:spAutoFit/>
          </a:bodyPr>
          <a:lstStyle/>
          <a:p>
            <a:pPr algn="l" marL="777240" indent="-388620" lvl="1">
              <a:lnSpc>
                <a:spcPts val="3600"/>
              </a:lnSpc>
              <a:buAutoNum type="arabicPeriod" startAt="1"/>
            </a:pPr>
            <a:r>
              <a:rPr lang="en-US" b="true" sz="3600">
                <a:solidFill>
                  <a:srgbClr val="0B0727"/>
                </a:solidFill>
                <a:latin typeface="Neue Machina Ultra-Bold"/>
                <a:ea typeface="Neue Machina Ultra-Bold"/>
                <a:cs typeface="Neue Machina Ultra-Bold"/>
                <a:sym typeface="Neue Machina Ultra-Bold"/>
              </a:rPr>
              <a:t>Value</a:t>
            </a:r>
          </a:p>
        </p:txBody>
      </p:sp>
      <p:sp>
        <p:nvSpPr>
          <p:cNvPr name="Freeform 9" id="9"/>
          <p:cNvSpPr/>
          <p:nvPr/>
        </p:nvSpPr>
        <p:spPr>
          <a:xfrm flipH="false" flipV="false" rot="0">
            <a:off x="12213599" y="8481331"/>
            <a:ext cx="3907018" cy="248628"/>
          </a:xfrm>
          <a:custGeom>
            <a:avLst/>
            <a:gdLst/>
            <a:ahLst/>
            <a:cxnLst/>
            <a:rect r="r" b="b" t="t" l="l"/>
            <a:pathLst>
              <a:path h="248628" w="3907018">
                <a:moveTo>
                  <a:pt x="0" y="0"/>
                </a:moveTo>
                <a:lnTo>
                  <a:pt x="3907017" y="0"/>
                </a:lnTo>
                <a:lnTo>
                  <a:pt x="3907017" y="248629"/>
                </a:lnTo>
                <a:lnTo>
                  <a:pt x="0" y="248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769763" y="7081045"/>
            <a:ext cx="730817" cy="719288"/>
          </a:xfrm>
          <a:custGeom>
            <a:avLst/>
            <a:gdLst/>
            <a:ahLst/>
            <a:cxnLst/>
            <a:rect r="r" b="b" t="t" l="l"/>
            <a:pathLst>
              <a:path h="719288" w="730817">
                <a:moveTo>
                  <a:pt x="0" y="0"/>
                </a:moveTo>
                <a:lnTo>
                  <a:pt x="730817" y="0"/>
                </a:lnTo>
                <a:lnTo>
                  <a:pt x="730817" y="719289"/>
                </a:lnTo>
                <a:lnTo>
                  <a:pt x="0" y="719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035801">
            <a:off x="10833634" y="1649279"/>
            <a:ext cx="730817" cy="719288"/>
          </a:xfrm>
          <a:custGeom>
            <a:avLst/>
            <a:gdLst/>
            <a:ahLst/>
            <a:cxnLst/>
            <a:rect r="r" b="b" t="t" l="l"/>
            <a:pathLst>
              <a:path h="719288" w="730817">
                <a:moveTo>
                  <a:pt x="0" y="0"/>
                </a:moveTo>
                <a:lnTo>
                  <a:pt x="730818" y="0"/>
                </a:lnTo>
                <a:lnTo>
                  <a:pt x="730818" y="719288"/>
                </a:lnTo>
                <a:lnTo>
                  <a:pt x="0" y="719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7493169"/>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94109" y="3779125"/>
            <a:ext cx="9417241" cy="4950835"/>
            <a:chOff x="0" y="0"/>
            <a:chExt cx="2480261" cy="1303924"/>
          </a:xfrm>
        </p:grpSpPr>
        <p:sp>
          <p:nvSpPr>
            <p:cNvPr name="Freeform 4" id="4"/>
            <p:cNvSpPr/>
            <p:nvPr/>
          </p:nvSpPr>
          <p:spPr>
            <a:xfrm flipH="false" flipV="false" rot="0">
              <a:off x="0" y="0"/>
              <a:ext cx="2480261" cy="1303924"/>
            </a:xfrm>
            <a:custGeom>
              <a:avLst/>
              <a:gdLst/>
              <a:ahLst/>
              <a:cxnLst/>
              <a:rect r="r" b="b" t="t" l="l"/>
              <a:pathLst>
                <a:path h="1303924" w="2480261">
                  <a:moveTo>
                    <a:pt x="41105" y="0"/>
                  </a:moveTo>
                  <a:lnTo>
                    <a:pt x="2439156" y="0"/>
                  </a:lnTo>
                  <a:cubicBezTo>
                    <a:pt x="2461858" y="0"/>
                    <a:pt x="2480261" y="18403"/>
                    <a:pt x="2480261" y="41105"/>
                  </a:cubicBezTo>
                  <a:lnTo>
                    <a:pt x="2480261" y="1262819"/>
                  </a:lnTo>
                  <a:cubicBezTo>
                    <a:pt x="2480261" y="1285520"/>
                    <a:pt x="2461858" y="1303924"/>
                    <a:pt x="2439156" y="1303924"/>
                  </a:cubicBezTo>
                  <a:lnTo>
                    <a:pt x="41105" y="1303924"/>
                  </a:lnTo>
                  <a:cubicBezTo>
                    <a:pt x="18403" y="1303924"/>
                    <a:pt x="0" y="1285520"/>
                    <a:pt x="0" y="1262819"/>
                  </a:cubicBezTo>
                  <a:lnTo>
                    <a:pt x="0" y="41105"/>
                  </a:lnTo>
                  <a:cubicBezTo>
                    <a:pt x="0" y="18403"/>
                    <a:pt x="18403" y="0"/>
                    <a:pt x="41105" y="0"/>
                  </a:cubicBezTo>
                  <a:close/>
                </a:path>
              </a:pathLst>
            </a:custGeom>
            <a:solidFill>
              <a:srgbClr val="FFFFFF"/>
            </a:solidFill>
          </p:spPr>
        </p:sp>
        <p:sp>
          <p:nvSpPr>
            <p:cNvPr name="TextBox 5" id="5"/>
            <p:cNvSpPr txBox="true"/>
            <p:nvPr/>
          </p:nvSpPr>
          <p:spPr>
            <a:xfrm>
              <a:off x="0" y="-57150"/>
              <a:ext cx="2480261" cy="1361074"/>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1394109" y="1680865"/>
            <a:ext cx="9417241" cy="1657985"/>
          </a:xfrm>
          <a:prstGeom prst="rect">
            <a:avLst/>
          </a:prstGeom>
        </p:spPr>
        <p:txBody>
          <a:bodyPr anchor="t" rtlCol="false" tIns="0" lIns="0" bIns="0" rIns="0">
            <a:spAutoFit/>
          </a:bodyPr>
          <a:lstStyle/>
          <a:p>
            <a:pPr algn="ctr">
              <a:lnSpc>
                <a:spcPts val="6399"/>
              </a:lnSpc>
            </a:pPr>
            <a:r>
              <a:rPr lang="en-US" b="true" sz="6399">
                <a:solidFill>
                  <a:srgbClr val="FFFFFF"/>
                </a:solidFill>
                <a:latin typeface="Neue Machina Ultra-Bold"/>
                <a:ea typeface="Neue Machina Ultra-Bold"/>
                <a:cs typeface="Neue Machina Ultra-Bold"/>
                <a:sym typeface="Neue Machina Ultra-Bold"/>
              </a:rPr>
              <a:t>karakteristik tambahan</a:t>
            </a:r>
          </a:p>
        </p:txBody>
      </p:sp>
      <p:sp>
        <p:nvSpPr>
          <p:cNvPr name="TextBox 7" id="7"/>
          <p:cNvSpPr txBox="true"/>
          <p:nvPr/>
        </p:nvSpPr>
        <p:spPr>
          <a:xfrm rot="0">
            <a:off x="1791018" y="4687753"/>
            <a:ext cx="8760325" cy="3793579"/>
          </a:xfrm>
          <a:prstGeom prst="rect">
            <a:avLst/>
          </a:prstGeom>
        </p:spPr>
        <p:txBody>
          <a:bodyPr anchor="t" rtlCol="false" tIns="0" lIns="0" bIns="0" rIns="0">
            <a:spAutoFit/>
          </a:bodyPr>
          <a:lstStyle/>
          <a:p>
            <a:pPr algn="l" marL="0" indent="0" lvl="0">
              <a:lnSpc>
                <a:spcPts val="5049"/>
              </a:lnSpc>
              <a:spcBef>
                <a:spcPct val="0"/>
              </a:spcBef>
            </a:pPr>
            <a:r>
              <a:rPr lang="en-US" sz="3366">
                <a:solidFill>
                  <a:srgbClr val="0B0727"/>
                </a:solidFill>
                <a:latin typeface="Telegraf"/>
                <a:ea typeface="Telegraf"/>
                <a:cs typeface="Telegraf"/>
                <a:sym typeface="Telegraf"/>
              </a:rPr>
              <a:t>mengacu pada tingkat akurasi dalam pengumpulan data dan seberapa akurat data tersebut. Dengan data yang memiliki tingkat keakuratan yang tinggi, maka pengambilan keputusan akan lebih baik dan maksimal.</a:t>
            </a:r>
          </a:p>
        </p:txBody>
      </p:sp>
      <p:sp>
        <p:nvSpPr>
          <p:cNvPr name="TextBox 8" id="8"/>
          <p:cNvSpPr txBox="true"/>
          <p:nvPr/>
        </p:nvSpPr>
        <p:spPr>
          <a:xfrm rot="0">
            <a:off x="2438718" y="4182482"/>
            <a:ext cx="7024262" cy="491490"/>
          </a:xfrm>
          <a:prstGeom prst="rect">
            <a:avLst/>
          </a:prstGeom>
        </p:spPr>
        <p:txBody>
          <a:bodyPr anchor="t" rtlCol="false" tIns="0" lIns="0" bIns="0" rIns="0">
            <a:spAutoFit/>
          </a:bodyPr>
          <a:lstStyle/>
          <a:p>
            <a:pPr algn="l">
              <a:lnSpc>
                <a:spcPts val="3600"/>
              </a:lnSpc>
            </a:pPr>
            <a:r>
              <a:rPr lang="en-US" sz="3600" b="true">
                <a:solidFill>
                  <a:srgbClr val="0B0727"/>
                </a:solidFill>
                <a:latin typeface="Neue Machina Ultra-Bold"/>
                <a:ea typeface="Neue Machina Ultra-Bold"/>
                <a:cs typeface="Neue Machina Ultra-Bold"/>
                <a:sym typeface="Neue Machina Ultra-Bold"/>
              </a:rPr>
              <a:t>2. Veracity</a:t>
            </a:r>
          </a:p>
        </p:txBody>
      </p:sp>
      <p:sp>
        <p:nvSpPr>
          <p:cNvPr name="Freeform 9" id="9"/>
          <p:cNvSpPr/>
          <p:nvPr/>
        </p:nvSpPr>
        <p:spPr>
          <a:xfrm flipH="false" flipV="false" rot="0">
            <a:off x="12213599" y="8481331"/>
            <a:ext cx="3907018" cy="248628"/>
          </a:xfrm>
          <a:custGeom>
            <a:avLst/>
            <a:gdLst/>
            <a:ahLst/>
            <a:cxnLst/>
            <a:rect r="r" b="b" t="t" l="l"/>
            <a:pathLst>
              <a:path h="248628" w="3907018">
                <a:moveTo>
                  <a:pt x="0" y="0"/>
                </a:moveTo>
                <a:lnTo>
                  <a:pt x="3907017" y="0"/>
                </a:lnTo>
                <a:lnTo>
                  <a:pt x="3907017" y="248629"/>
                </a:lnTo>
                <a:lnTo>
                  <a:pt x="0" y="248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769763" y="7081045"/>
            <a:ext cx="730817" cy="719288"/>
          </a:xfrm>
          <a:custGeom>
            <a:avLst/>
            <a:gdLst/>
            <a:ahLst/>
            <a:cxnLst/>
            <a:rect r="r" b="b" t="t" l="l"/>
            <a:pathLst>
              <a:path h="719288" w="730817">
                <a:moveTo>
                  <a:pt x="0" y="0"/>
                </a:moveTo>
                <a:lnTo>
                  <a:pt x="730817" y="0"/>
                </a:lnTo>
                <a:lnTo>
                  <a:pt x="730817" y="719289"/>
                </a:lnTo>
                <a:lnTo>
                  <a:pt x="0" y="719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035801">
            <a:off x="10833634" y="1649279"/>
            <a:ext cx="730817" cy="719288"/>
          </a:xfrm>
          <a:custGeom>
            <a:avLst/>
            <a:gdLst/>
            <a:ahLst/>
            <a:cxnLst/>
            <a:rect r="r" b="b" t="t" l="l"/>
            <a:pathLst>
              <a:path h="719288" w="730817">
                <a:moveTo>
                  <a:pt x="0" y="0"/>
                </a:moveTo>
                <a:lnTo>
                  <a:pt x="730818" y="0"/>
                </a:lnTo>
                <a:lnTo>
                  <a:pt x="730818" y="719288"/>
                </a:lnTo>
                <a:lnTo>
                  <a:pt x="0" y="719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0162876" y="-1690261"/>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6220566" y="8219566"/>
            <a:ext cx="1032858" cy="1044610"/>
          </a:xfrm>
          <a:custGeom>
            <a:avLst/>
            <a:gdLst/>
            <a:ahLst/>
            <a:cxnLst/>
            <a:rect r="r" b="b" t="t" l="l"/>
            <a:pathLst>
              <a:path h="1044610" w="1032858">
                <a:moveTo>
                  <a:pt x="0" y="1044610"/>
                </a:moveTo>
                <a:lnTo>
                  <a:pt x="1032858" y="1044610"/>
                </a:lnTo>
                <a:lnTo>
                  <a:pt x="1032858" y="0"/>
                </a:lnTo>
                <a:lnTo>
                  <a:pt x="0" y="0"/>
                </a:lnTo>
                <a:lnTo>
                  <a:pt x="0" y="104461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833708" y="1028700"/>
            <a:ext cx="3907018" cy="248628"/>
          </a:xfrm>
          <a:custGeom>
            <a:avLst/>
            <a:gdLst/>
            <a:ahLst/>
            <a:cxnLst/>
            <a:rect r="r" b="b" t="t" l="l"/>
            <a:pathLst>
              <a:path h="248628" w="3907018">
                <a:moveTo>
                  <a:pt x="0" y="0"/>
                </a:moveTo>
                <a:lnTo>
                  <a:pt x="3907018" y="0"/>
                </a:lnTo>
                <a:lnTo>
                  <a:pt x="3907018" y="248628"/>
                </a:lnTo>
                <a:lnTo>
                  <a:pt x="0" y="248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231471">
            <a:off x="9816363" y="1623873"/>
            <a:ext cx="748347" cy="736542"/>
          </a:xfrm>
          <a:custGeom>
            <a:avLst/>
            <a:gdLst/>
            <a:ahLst/>
            <a:cxnLst/>
            <a:rect r="r" b="b" t="t" l="l"/>
            <a:pathLst>
              <a:path h="736542" w="748347">
                <a:moveTo>
                  <a:pt x="0" y="0"/>
                </a:moveTo>
                <a:lnTo>
                  <a:pt x="748347" y="0"/>
                </a:lnTo>
                <a:lnTo>
                  <a:pt x="748347" y="736541"/>
                </a:lnTo>
                <a:lnTo>
                  <a:pt x="0" y="7365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28700" y="8539012"/>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394109" y="2663912"/>
            <a:ext cx="7773812" cy="5246888"/>
          </a:xfrm>
          <a:prstGeom prst="rect">
            <a:avLst/>
          </a:prstGeom>
        </p:spPr>
        <p:txBody>
          <a:bodyPr anchor="t" rtlCol="false" tIns="0" lIns="0" bIns="0" rIns="0">
            <a:spAutoFit/>
          </a:bodyPr>
          <a:lstStyle/>
          <a:p>
            <a:pPr algn="l">
              <a:lnSpc>
                <a:spcPts val="8195"/>
              </a:lnSpc>
            </a:pPr>
            <a:r>
              <a:rPr lang="en-US" sz="8195" b="true">
                <a:solidFill>
                  <a:srgbClr val="FFFFFF"/>
                </a:solidFill>
                <a:latin typeface="Neue Machina Ultra-Bold"/>
                <a:ea typeface="Neue Machina Ultra-Bold"/>
                <a:cs typeface="Neue Machina Ultra-Bold"/>
                <a:sym typeface="Neue Machina Ultra-Bold"/>
              </a:rPr>
              <a:t>Mengapa seorang statistisi perlu belajar Big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6172905"/>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173329" y="3211822"/>
            <a:ext cx="11616012" cy="1969950"/>
            <a:chOff x="0" y="0"/>
            <a:chExt cx="3059361" cy="518835"/>
          </a:xfrm>
        </p:grpSpPr>
        <p:sp>
          <p:nvSpPr>
            <p:cNvPr name="Freeform 4" id="4"/>
            <p:cNvSpPr/>
            <p:nvPr/>
          </p:nvSpPr>
          <p:spPr>
            <a:xfrm flipH="false" flipV="false" rot="0">
              <a:off x="0" y="0"/>
              <a:ext cx="3059361" cy="518835"/>
            </a:xfrm>
            <a:custGeom>
              <a:avLst/>
              <a:gdLst/>
              <a:ahLst/>
              <a:cxnLst/>
              <a:rect r="r" b="b" t="t" l="l"/>
              <a:pathLst>
                <a:path h="518835" w="3059361">
                  <a:moveTo>
                    <a:pt x="16662" y="0"/>
                  </a:moveTo>
                  <a:lnTo>
                    <a:pt x="3042699" y="0"/>
                  </a:lnTo>
                  <a:cubicBezTo>
                    <a:pt x="3047118" y="0"/>
                    <a:pt x="3051356" y="1755"/>
                    <a:pt x="3054481" y="4880"/>
                  </a:cubicBezTo>
                  <a:cubicBezTo>
                    <a:pt x="3057606" y="8005"/>
                    <a:pt x="3059361" y="12243"/>
                    <a:pt x="3059361" y="16662"/>
                  </a:cubicBezTo>
                  <a:lnTo>
                    <a:pt x="3059361" y="502172"/>
                  </a:lnTo>
                  <a:cubicBezTo>
                    <a:pt x="3059361" y="506592"/>
                    <a:pt x="3057606" y="510830"/>
                    <a:pt x="3054481" y="513954"/>
                  </a:cubicBezTo>
                  <a:cubicBezTo>
                    <a:pt x="3051356" y="517079"/>
                    <a:pt x="3047118" y="518835"/>
                    <a:pt x="3042699" y="518835"/>
                  </a:cubicBezTo>
                  <a:lnTo>
                    <a:pt x="16662" y="518835"/>
                  </a:lnTo>
                  <a:cubicBezTo>
                    <a:pt x="7460" y="518835"/>
                    <a:pt x="0" y="511375"/>
                    <a:pt x="0" y="502172"/>
                  </a:cubicBezTo>
                  <a:lnTo>
                    <a:pt x="0" y="16662"/>
                  </a:lnTo>
                  <a:cubicBezTo>
                    <a:pt x="0" y="12243"/>
                    <a:pt x="1755" y="8005"/>
                    <a:pt x="4880" y="4880"/>
                  </a:cubicBezTo>
                  <a:cubicBezTo>
                    <a:pt x="8005" y="1755"/>
                    <a:pt x="12243" y="0"/>
                    <a:pt x="16662" y="0"/>
                  </a:cubicBezTo>
                  <a:close/>
                </a:path>
              </a:pathLst>
            </a:custGeom>
            <a:solidFill>
              <a:srgbClr val="FFFFFF"/>
            </a:solidFill>
            <a:ln cap="rnd">
              <a:noFill/>
              <a:prstDash val="solid"/>
              <a:round/>
            </a:ln>
          </p:spPr>
        </p:sp>
        <p:sp>
          <p:nvSpPr>
            <p:cNvPr name="TextBox 5" id="5"/>
            <p:cNvSpPr txBox="true"/>
            <p:nvPr/>
          </p:nvSpPr>
          <p:spPr>
            <a:xfrm>
              <a:off x="0" y="-57150"/>
              <a:ext cx="3059361" cy="575985"/>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5173329" y="5325180"/>
            <a:ext cx="11616012" cy="1527578"/>
            <a:chOff x="0" y="0"/>
            <a:chExt cx="3059361" cy="402325"/>
          </a:xfrm>
        </p:grpSpPr>
        <p:sp>
          <p:nvSpPr>
            <p:cNvPr name="Freeform 7" id="7"/>
            <p:cNvSpPr/>
            <p:nvPr/>
          </p:nvSpPr>
          <p:spPr>
            <a:xfrm flipH="false" flipV="false" rot="0">
              <a:off x="0" y="0"/>
              <a:ext cx="3059361" cy="402325"/>
            </a:xfrm>
            <a:custGeom>
              <a:avLst/>
              <a:gdLst/>
              <a:ahLst/>
              <a:cxnLst/>
              <a:rect r="r" b="b" t="t" l="l"/>
              <a:pathLst>
                <a:path h="402325" w="3059361">
                  <a:moveTo>
                    <a:pt x="16662" y="0"/>
                  </a:moveTo>
                  <a:lnTo>
                    <a:pt x="3042699" y="0"/>
                  </a:lnTo>
                  <a:cubicBezTo>
                    <a:pt x="3047118" y="0"/>
                    <a:pt x="3051356" y="1755"/>
                    <a:pt x="3054481" y="4880"/>
                  </a:cubicBezTo>
                  <a:cubicBezTo>
                    <a:pt x="3057606" y="8005"/>
                    <a:pt x="3059361" y="12243"/>
                    <a:pt x="3059361" y="16662"/>
                  </a:cubicBezTo>
                  <a:lnTo>
                    <a:pt x="3059361" y="385663"/>
                  </a:lnTo>
                  <a:cubicBezTo>
                    <a:pt x="3059361" y="394865"/>
                    <a:pt x="3051901" y="402325"/>
                    <a:pt x="3042699" y="402325"/>
                  </a:cubicBezTo>
                  <a:lnTo>
                    <a:pt x="16662" y="402325"/>
                  </a:lnTo>
                  <a:cubicBezTo>
                    <a:pt x="12243" y="402325"/>
                    <a:pt x="8005" y="400570"/>
                    <a:pt x="4880" y="397445"/>
                  </a:cubicBezTo>
                  <a:cubicBezTo>
                    <a:pt x="1755" y="394320"/>
                    <a:pt x="0" y="390082"/>
                    <a:pt x="0" y="385663"/>
                  </a:cubicBezTo>
                  <a:lnTo>
                    <a:pt x="0" y="16662"/>
                  </a:lnTo>
                  <a:cubicBezTo>
                    <a:pt x="0" y="12243"/>
                    <a:pt x="1755" y="8005"/>
                    <a:pt x="4880" y="4880"/>
                  </a:cubicBezTo>
                  <a:cubicBezTo>
                    <a:pt x="8005" y="1755"/>
                    <a:pt x="12243" y="0"/>
                    <a:pt x="16662" y="0"/>
                  </a:cubicBezTo>
                  <a:close/>
                </a:path>
              </a:pathLst>
            </a:custGeom>
            <a:solidFill>
              <a:srgbClr val="FFFFFF"/>
            </a:solidFill>
            <a:ln cap="rnd">
              <a:noFill/>
              <a:prstDash val="solid"/>
              <a:round/>
            </a:ln>
          </p:spPr>
        </p:sp>
        <p:sp>
          <p:nvSpPr>
            <p:cNvPr name="TextBox 8" id="8"/>
            <p:cNvSpPr txBox="true"/>
            <p:nvPr/>
          </p:nvSpPr>
          <p:spPr>
            <a:xfrm>
              <a:off x="0" y="-57150"/>
              <a:ext cx="3059361" cy="459475"/>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5179591" y="6995633"/>
            <a:ext cx="11616012" cy="1527578"/>
            <a:chOff x="0" y="0"/>
            <a:chExt cx="3059361" cy="402325"/>
          </a:xfrm>
        </p:grpSpPr>
        <p:sp>
          <p:nvSpPr>
            <p:cNvPr name="Freeform 10" id="10"/>
            <p:cNvSpPr/>
            <p:nvPr/>
          </p:nvSpPr>
          <p:spPr>
            <a:xfrm flipH="false" flipV="false" rot="0">
              <a:off x="0" y="0"/>
              <a:ext cx="3059361" cy="402325"/>
            </a:xfrm>
            <a:custGeom>
              <a:avLst/>
              <a:gdLst/>
              <a:ahLst/>
              <a:cxnLst/>
              <a:rect r="r" b="b" t="t" l="l"/>
              <a:pathLst>
                <a:path h="402325" w="3059361">
                  <a:moveTo>
                    <a:pt x="16662" y="0"/>
                  </a:moveTo>
                  <a:lnTo>
                    <a:pt x="3042699" y="0"/>
                  </a:lnTo>
                  <a:cubicBezTo>
                    <a:pt x="3047118" y="0"/>
                    <a:pt x="3051356" y="1755"/>
                    <a:pt x="3054481" y="4880"/>
                  </a:cubicBezTo>
                  <a:cubicBezTo>
                    <a:pt x="3057606" y="8005"/>
                    <a:pt x="3059361" y="12243"/>
                    <a:pt x="3059361" y="16662"/>
                  </a:cubicBezTo>
                  <a:lnTo>
                    <a:pt x="3059361" y="385663"/>
                  </a:lnTo>
                  <a:cubicBezTo>
                    <a:pt x="3059361" y="394865"/>
                    <a:pt x="3051901" y="402325"/>
                    <a:pt x="3042699" y="402325"/>
                  </a:cubicBezTo>
                  <a:lnTo>
                    <a:pt x="16662" y="402325"/>
                  </a:lnTo>
                  <a:cubicBezTo>
                    <a:pt x="12243" y="402325"/>
                    <a:pt x="8005" y="400570"/>
                    <a:pt x="4880" y="397445"/>
                  </a:cubicBezTo>
                  <a:cubicBezTo>
                    <a:pt x="1755" y="394320"/>
                    <a:pt x="0" y="390082"/>
                    <a:pt x="0" y="385663"/>
                  </a:cubicBezTo>
                  <a:lnTo>
                    <a:pt x="0" y="16662"/>
                  </a:lnTo>
                  <a:cubicBezTo>
                    <a:pt x="0" y="12243"/>
                    <a:pt x="1755" y="8005"/>
                    <a:pt x="4880" y="4880"/>
                  </a:cubicBezTo>
                  <a:cubicBezTo>
                    <a:pt x="8005" y="1755"/>
                    <a:pt x="12243" y="0"/>
                    <a:pt x="16662" y="0"/>
                  </a:cubicBezTo>
                  <a:close/>
                </a:path>
              </a:pathLst>
            </a:custGeom>
            <a:solidFill>
              <a:srgbClr val="FFFFFF"/>
            </a:solidFill>
            <a:ln cap="rnd">
              <a:noFill/>
              <a:prstDash val="solid"/>
              <a:round/>
            </a:ln>
          </p:spPr>
        </p:sp>
        <p:sp>
          <p:nvSpPr>
            <p:cNvPr name="TextBox 11" id="11"/>
            <p:cNvSpPr txBox="true"/>
            <p:nvPr/>
          </p:nvSpPr>
          <p:spPr>
            <a:xfrm>
              <a:off x="0" y="-57150"/>
              <a:ext cx="3059361" cy="459475"/>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5295425" y="3289706"/>
            <a:ext cx="11431881" cy="1608306"/>
          </a:xfrm>
          <a:prstGeom prst="rect">
            <a:avLst/>
          </a:prstGeom>
        </p:spPr>
        <p:txBody>
          <a:bodyPr anchor="t" rtlCol="false" tIns="0" lIns="0" bIns="0" rIns="0">
            <a:spAutoFit/>
          </a:bodyPr>
          <a:lstStyle/>
          <a:p>
            <a:pPr algn="l" marL="0" indent="0" lvl="0">
              <a:lnSpc>
                <a:spcPts val="3166"/>
              </a:lnSpc>
            </a:pPr>
            <a:r>
              <a:rPr lang="en-US" sz="2638">
                <a:solidFill>
                  <a:srgbClr val="121212"/>
                </a:solidFill>
                <a:latin typeface="Telegraf"/>
                <a:ea typeface="Telegraf"/>
                <a:cs typeface="Telegraf"/>
                <a:sym typeface="Telegraf"/>
              </a:rPr>
              <a:t>Dalam dunia modern, data tidak hanya dalam jumlah kecil seperti sampel penelitian, tetapi bisa dalam skala besar yang mencakup miliaran observasi, Statistisi yang memahami Big Data dapat bekerja dengan dataset yang jauh lebih besar dibandingkan teknik statistik tradisional.</a:t>
            </a:r>
          </a:p>
        </p:txBody>
      </p:sp>
      <p:grpSp>
        <p:nvGrpSpPr>
          <p:cNvPr name="Group 13" id="13"/>
          <p:cNvGrpSpPr/>
          <p:nvPr/>
        </p:nvGrpSpPr>
        <p:grpSpPr>
          <a:xfrm rot="0">
            <a:off x="1492397" y="3212355"/>
            <a:ext cx="3558629" cy="1969950"/>
            <a:chOff x="0" y="0"/>
            <a:chExt cx="937252" cy="518835"/>
          </a:xfrm>
        </p:grpSpPr>
        <p:sp>
          <p:nvSpPr>
            <p:cNvPr name="Freeform 14" id="14"/>
            <p:cNvSpPr/>
            <p:nvPr/>
          </p:nvSpPr>
          <p:spPr>
            <a:xfrm flipH="false" flipV="false" rot="0">
              <a:off x="0" y="0"/>
              <a:ext cx="937252" cy="518835"/>
            </a:xfrm>
            <a:custGeom>
              <a:avLst/>
              <a:gdLst/>
              <a:ahLst/>
              <a:cxnLst/>
              <a:rect r="r" b="b" t="t" l="l"/>
              <a:pathLst>
                <a:path h="518835" w="937252">
                  <a:moveTo>
                    <a:pt x="54388" y="0"/>
                  </a:moveTo>
                  <a:lnTo>
                    <a:pt x="882864" y="0"/>
                  </a:lnTo>
                  <a:cubicBezTo>
                    <a:pt x="912902" y="0"/>
                    <a:pt x="937252" y="24350"/>
                    <a:pt x="937252" y="54388"/>
                  </a:cubicBezTo>
                  <a:lnTo>
                    <a:pt x="937252" y="464446"/>
                  </a:lnTo>
                  <a:cubicBezTo>
                    <a:pt x="937252" y="478871"/>
                    <a:pt x="931522" y="492705"/>
                    <a:pt x="921322" y="502905"/>
                  </a:cubicBezTo>
                  <a:cubicBezTo>
                    <a:pt x="911122" y="513104"/>
                    <a:pt x="897289" y="518835"/>
                    <a:pt x="882864" y="518835"/>
                  </a:cubicBezTo>
                  <a:lnTo>
                    <a:pt x="54388" y="518835"/>
                  </a:lnTo>
                  <a:cubicBezTo>
                    <a:pt x="24350" y="518835"/>
                    <a:pt x="0" y="494484"/>
                    <a:pt x="0" y="464446"/>
                  </a:cubicBezTo>
                  <a:lnTo>
                    <a:pt x="0" y="54388"/>
                  </a:lnTo>
                  <a:cubicBezTo>
                    <a:pt x="0" y="24350"/>
                    <a:pt x="24350" y="0"/>
                    <a:pt x="54388" y="0"/>
                  </a:cubicBezTo>
                  <a:close/>
                </a:path>
              </a:pathLst>
            </a:custGeom>
            <a:solidFill>
              <a:srgbClr val="35CDCE"/>
            </a:solidFill>
            <a:ln cap="rnd">
              <a:noFill/>
              <a:prstDash val="solid"/>
              <a:round/>
            </a:ln>
          </p:spPr>
        </p:sp>
        <p:sp>
          <p:nvSpPr>
            <p:cNvPr name="TextBox 15" id="15"/>
            <p:cNvSpPr txBox="true"/>
            <p:nvPr/>
          </p:nvSpPr>
          <p:spPr>
            <a:xfrm>
              <a:off x="0" y="-57150"/>
              <a:ext cx="937252" cy="575985"/>
            </a:xfrm>
            <a:prstGeom prst="rect">
              <a:avLst/>
            </a:prstGeom>
          </p:spPr>
          <p:txBody>
            <a:bodyPr anchor="ctr" rtlCol="false" tIns="50800" lIns="50800" bIns="50800" rIns="50800"/>
            <a:lstStyle/>
            <a:p>
              <a:pPr algn="ctr">
                <a:lnSpc>
                  <a:spcPts val="2940"/>
                </a:lnSpc>
              </a:pPr>
            </a:p>
          </p:txBody>
        </p:sp>
      </p:grpSp>
      <p:sp>
        <p:nvSpPr>
          <p:cNvPr name="TextBox 16" id="16"/>
          <p:cNvSpPr txBox="true"/>
          <p:nvPr/>
        </p:nvSpPr>
        <p:spPr>
          <a:xfrm rot="0">
            <a:off x="1738571" y="3593932"/>
            <a:ext cx="3066281" cy="1254420"/>
          </a:xfrm>
          <a:prstGeom prst="rect">
            <a:avLst/>
          </a:prstGeom>
        </p:spPr>
        <p:txBody>
          <a:bodyPr anchor="t" rtlCol="false" tIns="0" lIns="0" bIns="0" rIns="0">
            <a:spAutoFit/>
          </a:bodyPr>
          <a:lstStyle/>
          <a:p>
            <a:pPr algn="ctr">
              <a:lnSpc>
                <a:spcPts val="3230"/>
              </a:lnSpc>
            </a:pPr>
            <a:r>
              <a:rPr lang="en-US" b="true" sz="3230">
                <a:solidFill>
                  <a:srgbClr val="0B0727"/>
                </a:solidFill>
                <a:latin typeface="Neue Machina Ultra-Bold"/>
                <a:ea typeface="Neue Machina Ultra-Bold"/>
                <a:cs typeface="Neue Machina Ultra-Bold"/>
                <a:sym typeface="Neue Machina Ultra-Bold"/>
              </a:rPr>
              <a:t>Menghadapi Volume Data yang Besar</a:t>
            </a:r>
          </a:p>
        </p:txBody>
      </p:sp>
      <p:grpSp>
        <p:nvGrpSpPr>
          <p:cNvPr name="Group 17" id="17"/>
          <p:cNvGrpSpPr/>
          <p:nvPr/>
        </p:nvGrpSpPr>
        <p:grpSpPr>
          <a:xfrm rot="0">
            <a:off x="1492397" y="5311414"/>
            <a:ext cx="3558629" cy="1541343"/>
            <a:chOff x="0" y="0"/>
            <a:chExt cx="937252" cy="405951"/>
          </a:xfrm>
        </p:grpSpPr>
        <p:sp>
          <p:nvSpPr>
            <p:cNvPr name="Freeform 18" id="18"/>
            <p:cNvSpPr/>
            <p:nvPr/>
          </p:nvSpPr>
          <p:spPr>
            <a:xfrm flipH="false" flipV="false" rot="0">
              <a:off x="0" y="0"/>
              <a:ext cx="937252" cy="405951"/>
            </a:xfrm>
            <a:custGeom>
              <a:avLst/>
              <a:gdLst/>
              <a:ahLst/>
              <a:cxnLst/>
              <a:rect r="r" b="b" t="t" l="l"/>
              <a:pathLst>
                <a:path h="405951" w="937252">
                  <a:moveTo>
                    <a:pt x="54388" y="0"/>
                  </a:moveTo>
                  <a:lnTo>
                    <a:pt x="882864" y="0"/>
                  </a:lnTo>
                  <a:cubicBezTo>
                    <a:pt x="912902" y="0"/>
                    <a:pt x="937252" y="24350"/>
                    <a:pt x="937252" y="54388"/>
                  </a:cubicBezTo>
                  <a:lnTo>
                    <a:pt x="937252" y="351562"/>
                  </a:lnTo>
                  <a:cubicBezTo>
                    <a:pt x="937252" y="381600"/>
                    <a:pt x="912902" y="405951"/>
                    <a:pt x="882864" y="405951"/>
                  </a:cubicBezTo>
                  <a:lnTo>
                    <a:pt x="54388" y="405951"/>
                  </a:lnTo>
                  <a:cubicBezTo>
                    <a:pt x="24350" y="405951"/>
                    <a:pt x="0" y="381600"/>
                    <a:pt x="0" y="351562"/>
                  </a:cubicBezTo>
                  <a:lnTo>
                    <a:pt x="0" y="54388"/>
                  </a:lnTo>
                  <a:cubicBezTo>
                    <a:pt x="0" y="24350"/>
                    <a:pt x="24350" y="0"/>
                    <a:pt x="54388" y="0"/>
                  </a:cubicBezTo>
                  <a:close/>
                </a:path>
              </a:pathLst>
            </a:custGeom>
            <a:solidFill>
              <a:srgbClr val="35CDCE"/>
            </a:solidFill>
            <a:ln cap="rnd">
              <a:noFill/>
              <a:prstDash val="solid"/>
              <a:round/>
            </a:ln>
          </p:spPr>
        </p:sp>
        <p:sp>
          <p:nvSpPr>
            <p:cNvPr name="TextBox 19" id="19"/>
            <p:cNvSpPr txBox="true"/>
            <p:nvPr/>
          </p:nvSpPr>
          <p:spPr>
            <a:xfrm>
              <a:off x="0" y="-57150"/>
              <a:ext cx="937252" cy="463101"/>
            </a:xfrm>
            <a:prstGeom prst="rect">
              <a:avLst/>
            </a:prstGeom>
          </p:spPr>
          <p:txBody>
            <a:bodyPr anchor="ctr" rtlCol="false" tIns="50800" lIns="50800" bIns="50800" rIns="50800"/>
            <a:lstStyle/>
            <a:p>
              <a:pPr algn="ctr">
                <a:lnSpc>
                  <a:spcPts val="2940"/>
                </a:lnSpc>
              </a:pPr>
            </a:p>
          </p:txBody>
        </p:sp>
      </p:grpSp>
      <p:sp>
        <p:nvSpPr>
          <p:cNvPr name="TextBox 20" id="20"/>
          <p:cNvSpPr txBox="true"/>
          <p:nvPr/>
        </p:nvSpPr>
        <p:spPr>
          <a:xfrm rot="0">
            <a:off x="1492397" y="5572396"/>
            <a:ext cx="3558629" cy="1080770"/>
          </a:xfrm>
          <a:prstGeom prst="rect">
            <a:avLst/>
          </a:prstGeom>
        </p:spPr>
        <p:txBody>
          <a:bodyPr anchor="t" rtlCol="false" tIns="0" lIns="0" bIns="0" rIns="0">
            <a:spAutoFit/>
          </a:bodyPr>
          <a:lstStyle/>
          <a:p>
            <a:pPr algn="ctr">
              <a:lnSpc>
                <a:spcPts val="2799"/>
              </a:lnSpc>
            </a:pPr>
            <a:r>
              <a:rPr lang="en-US" b="true" sz="2799">
                <a:solidFill>
                  <a:srgbClr val="0B0727"/>
                </a:solidFill>
                <a:latin typeface="Neue Machina Ultra-Bold"/>
                <a:ea typeface="Neue Machina Ultra-Bold"/>
                <a:cs typeface="Neue Machina Ultra-Bold"/>
                <a:sym typeface="Neue Machina Ultra-Bold"/>
              </a:rPr>
              <a:t>Mengakomodasi Berbagai Jenis Data</a:t>
            </a:r>
          </a:p>
        </p:txBody>
      </p:sp>
      <p:grpSp>
        <p:nvGrpSpPr>
          <p:cNvPr name="Group 21" id="21"/>
          <p:cNvGrpSpPr/>
          <p:nvPr/>
        </p:nvGrpSpPr>
        <p:grpSpPr>
          <a:xfrm rot="0">
            <a:off x="1492397" y="6995633"/>
            <a:ext cx="3558629" cy="1541343"/>
            <a:chOff x="0" y="0"/>
            <a:chExt cx="937252" cy="405951"/>
          </a:xfrm>
        </p:grpSpPr>
        <p:sp>
          <p:nvSpPr>
            <p:cNvPr name="Freeform 22" id="22"/>
            <p:cNvSpPr/>
            <p:nvPr/>
          </p:nvSpPr>
          <p:spPr>
            <a:xfrm flipH="false" flipV="false" rot="0">
              <a:off x="0" y="0"/>
              <a:ext cx="937252" cy="405951"/>
            </a:xfrm>
            <a:custGeom>
              <a:avLst/>
              <a:gdLst/>
              <a:ahLst/>
              <a:cxnLst/>
              <a:rect r="r" b="b" t="t" l="l"/>
              <a:pathLst>
                <a:path h="405951" w="937252">
                  <a:moveTo>
                    <a:pt x="54388" y="0"/>
                  </a:moveTo>
                  <a:lnTo>
                    <a:pt x="882864" y="0"/>
                  </a:lnTo>
                  <a:cubicBezTo>
                    <a:pt x="912902" y="0"/>
                    <a:pt x="937252" y="24350"/>
                    <a:pt x="937252" y="54388"/>
                  </a:cubicBezTo>
                  <a:lnTo>
                    <a:pt x="937252" y="351562"/>
                  </a:lnTo>
                  <a:cubicBezTo>
                    <a:pt x="937252" y="381600"/>
                    <a:pt x="912902" y="405951"/>
                    <a:pt x="882864" y="405951"/>
                  </a:cubicBezTo>
                  <a:lnTo>
                    <a:pt x="54388" y="405951"/>
                  </a:lnTo>
                  <a:cubicBezTo>
                    <a:pt x="24350" y="405951"/>
                    <a:pt x="0" y="381600"/>
                    <a:pt x="0" y="351562"/>
                  </a:cubicBezTo>
                  <a:lnTo>
                    <a:pt x="0" y="54388"/>
                  </a:lnTo>
                  <a:cubicBezTo>
                    <a:pt x="0" y="24350"/>
                    <a:pt x="24350" y="0"/>
                    <a:pt x="54388" y="0"/>
                  </a:cubicBezTo>
                  <a:close/>
                </a:path>
              </a:pathLst>
            </a:custGeom>
            <a:solidFill>
              <a:srgbClr val="35CDCE"/>
            </a:solidFill>
            <a:ln cap="rnd">
              <a:noFill/>
              <a:prstDash val="solid"/>
              <a:round/>
            </a:ln>
          </p:spPr>
        </p:sp>
        <p:sp>
          <p:nvSpPr>
            <p:cNvPr name="TextBox 23" id="23"/>
            <p:cNvSpPr txBox="true"/>
            <p:nvPr/>
          </p:nvSpPr>
          <p:spPr>
            <a:xfrm>
              <a:off x="0" y="-57150"/>
              <a:ext cx="937252" cy="463101"/>
            </a:xfrm>
            <a:prstGeom prst="rect">
              <a:avLst/>
            </a:prstGeom>
          </p:spPr>
          <p:txBody>
            <a:bodyPr anchor="ctr" rtlCol="false" tIns="50800" lIns="50800" bIns="50800" rIns="50800"/>
            <a:lstStyle/>
            <a:p>
              <a:pPr algn="ctr">
                <a:lnSpc>
                  <a:spcPts val="2940"/>
                </a:lnSpc>
              </a:pPr>
            </a:p>
          </p:txBody>
        </p:sp>
      </p:grpSp>
      <p:sp>
        <p:nvSpPr>
          <p:cNvPr name="TextBox 24" id="24"/>
          <p:cNvSpPr txBox="true"/>
          <p:nvPr/>
        </p:nvSpPr>
        <p:spPr>
          <a:xfrm rot="0">
            <a:off x="1943041" y="7242849"/>
            <a:ext cx="2750578" cy="1080770"/>
          </a:xfrm>
          <a:prstGeom prst="rect">
            <a:avLst/>
          </a:prstGeom>
        </p:spPr>
        <p:txBody>
          <a:bodyPr anchor="t" rtlCol="false" tIns="0" lIns="0" bIns="0" rIns="0">
            <a:spAutoFit/>
          </a:bodyPr>
          <a:lstStyle/>
          <a:p>
            <a:pPr algn="ctr">
              <a:lnSpc>
                <a:spcPts val="2799"/>
              </a:lnSpc>
            </a:pPr>
            <a:r>
              <a:rPr lang="en-US" b="true" sz="2799">
                <a:solidFill>
                  <a:srgbClr val="0B0727"/>
                </a:solidFill>
                <a:latin typeface="Neue Machina Ultra-Bold"/>
                <a:ea typeface="Neue Machina Ultra-Bold"/>
                <a:cs typeface="Neue Machina Ultra-Bold"/>
                <a:sym typeface="Neue Machina Ultra-Bold"/>
              </a:rPr>
              <a:t>Memperluas Peluang Karier</a:t>
            </a:r>
          </a:p>
        </p:txBody>
      </p:sp>
      <p:sp>
        <p:nvSpPr>
          <p:cNvPr name="TextBox 25" id="25"/>
          <p:cNvSpPr txBox="true"/>
          <p:nvPr/>
        </p:nvSpPr>
        <p:spPr>
          <a:xfrm rot="0">
            <a:off x="5560172" y="7099554"/>
            <a:ext cx="10922372" cy="1295400"/>
          </a:xfrm>
          <a:prstGeom prst="rect">
            <a:avLst/>
          </a:prstGeom>
        </p:spPr>
        <p:txBody>
          <a:bodyPr anchor="t" rtlCol="false" tIns="0" lIns="0" bIns="0" rIns="0">
            <a:spAutoFit/>
          </a:bodyPr>
          <a:lstStyle/>
          <a:p>
            <a:pPr algn="l" marL="0" indent="0" lvl="0">
              <a:lnSpc>
                <a:spcPts val="3359"/>
              </a:lnSpc>
            </a:pPr>
            <a:r>
              <a:rPr lang="en-US" sz="2799">
                <a:solidFill>
                  <a:srgbClr val="121212"/>
                </a:solidFill>
                <a:latin typeface="Telegraf"/>
                <a:ea typeface="Telegraf"/>
                <a:cs typeface="Telegraf"/>
                <a:sym typeface="Telegraf"/>
              </a:rPr>
              <a:t>Analisis risiko dan prediksi pasar saham, Kesehatan: Prediksi penyebaran penyakit dan analisis rekam medis elektronik, Analisis perilaku pelanggan dan strategi pemasaran berbasis data.</a:t>
            </a:r>
          </a:p>
        </p:txBody>
      </p:sp>
      <p:sp>
        <p:nvSpPr>
          <p:cNvPr name="Freeform 26" id="26"/>
          <p:cNvSpPr/>
          <p:nvPr/>
        </p:nvSpPr>
        <p:spPr>
          <a:xfrm flipH="false" flipV="false" rot="-3231471">
            <a:off x="660111" y="8677918"/>
            <a:ext cx="698049" cy="687037"/>
          </a:xfrm>
          <a:custGeom>
            <a:avLst/>
            <a:gdLst/>
            <a:ahLst/>
            <a:cxnLst/>
            <a:rect r="r" b="b" t="t" l="l"/>
            <a:pathLst>
              <a:path h="687037" w="698049">
                <a:moveTo>
                  <a:pt x="0" y="0"/>
                </a:moveTo>
                <a:lnTo>
                  <a:pt x="698048" y="0"/>
                </a:lnTo>
                <a:lnTo>
                  <a:pt x="698048" y="687037"/>
                </a:lnTo>
                <a:lnTo>
                  <a:pt x="0" y="6870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3231471">
            <a:off x="16616781" y="773483"/>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8" id="28"/>
          <p:cNvSpPr txBox="true"/>
          <p:nvPr/>
        </p:nvSpPr>
        <p:spPr>
          <a:xfrm rot="0">
            <a:off x="5460520" y="5536440"/>
            <a:ext cx="11419186" cy="1400983"/>
          </a:xfrm>
          <a:prstGeom prst="rect">
            <a:avLst/>
          </a:prstGeom>
        </p:spPr>
        <p:txBody>
          <a:bodyPr anchor="t" rtlCol="false" tIns="0" lIns="0" bIns="0" rIns="0">
            <a:spAutoFit/>
          </a:bodyPr>
          <a:lstStyle/>
          <a:p>
            <a:pPr algn="l" marL="0" indent="0" lvl="0">
              <a:lnSpc>
                <a:spcPts val="2750"/>
              </a:lnSpc>
            </a:pPr>
            <a:r>
              <a:rPr lang="en-US" sz="2292">
                <a:solidFill>
                  <a:srgbClr val="121212"/>
                </a:solidFill>
                <a:latin typeface="Telegraf"/>
                <a:ea typeface="Telegraf"/>
                <a:cs typeface="Telegraf"/>
                <a:sym typeface="Telegraf"/>
              </a:rPr>
              <a:t>Data saat ini tidak hanya berbentuk angka dalam tabel (terstruktur), tetapi juga bisa berupa teks, gambar, video, dan data sensor (tidak terstruktur), Dengan Big Data, statistisi dapat menganalisis data dari berbagai sumber seperti media sosial, IoT, dan transaksi keuangan.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6931881" y="4295140"/>
            <a:ext cx="12422779" cy="848360"/>
          </a:xfrm>
          <a:prstGeom prst="rect">
            <a:avLst/>
          </a:prstGeom>
        </p:spPr>
        <p:txBody>
          <a:bodyPr anchor="t" rtlCol="false" tIns="0" lIns="0" bIns="0" rIns="0">
            <a:spAutoFit/>
          </a:bodyPr>
          <a:lstStyle/>
          <a:p>
            <a:pPr algn="l">
              <a:lnSpc>
                <a:spcPts val="6399"/>
              </a:lnSpc>
            </a:pPr>
            <a:r>
              <a:rPr lang="en-US" sz="6399" b="true">
                <a:solidFill>
                  <a:srgbClr val="FFFFFF"/>
                </a:solidFill>
                <a:latin typeface="Neue Machina Ultra-Bold"/>
                <a:ea typeface="Neue Machina Ultra-Bold"/>
                <a:cs typeface="Neue Machina Ultra-Bold"/>
                <a:sym typeface="Neue Machina Ultra-Bold"/>
              </a:rPr>
              <a:t>Apa Itu MongoDB</a:t>
            </a:r>
          </a:p>
        </p:txBody>
      </p:sp>
      <p:sp>
        <p:nvSpPr>
          <p:cNvPr name="Freeform 8" id="8"/>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4827211" y="2069331"/>
            <a:ext cx="12391774" cy="5718953"/>
          </a:xfrm>
          <a:prstGeom prst="rect">
            <a:avLst/>
          </a:prstGeom>
        </p:spPr>
        <p:txBody>
          <a:bodyPr anchor="t" rtlCol="false" tIns="0" lIns="0" bIns="0" rIns="0">
            <a:spAutoFit/>
          </a:bodyPr>
          <a:lstStyle/>
          <a:p>
            <a:pPr algn="l" marL="0" indent="0" lvl="0">
              <a:lnSpc>
                <a:spcPts val="5043"/>
              </a:lnSpc>
            </a:pPr>
            <a:r>
              <a:rPr lang="en-US" sz="4202">
                <a:solidFill>
                  <a:srgbClr val="FFFFFF"/>
                </a:solidFill>
                <a:latin typeface="Telegraf"/>
                <a:ea typeface="Telegraf"/>
                <a:cs typeface="Telegraf"/>
                <a:sym typeface="Telegraf"/>
              </a:rPr>
              <a:t>MongoDB adalah salah satu jenis database NoSQL yang digunakan untuk menyimpan data dalam format dokumen. MongoDB berfokus pada penyimpanan data yang fleksibel, terstruktur maupun tidak terstruktur, dan dapat menangani data dalam skala besar (Big Data). Database ini sangat cocok untuk aplikasi yang memerlukan skala horizontal dan pengelolaan data yang dinamis.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3417064"/>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38309" y="1123950"/>
            <a:ext cx="13811382" cy="751840"/>
          </a:xfrm>
          <a:prstGeom prst="rect">
            <a:avLst/>
          </a:prstGeom>
        </p:spPr>
        <p:txBody>
          <a:bodyPr anchor="t" rtlCol="false" tIns="0" lIns="0" bIns="0" rIns="0">
            <a:spAutoFit/>
          </a:bodyPr>
          <a:lstStyle/>
          <a:p>
            <a:pPr algn="ctr">
              <a:lnSpc>
                <a:spcPts val="5600"/>
              </a:lnSpc>
            </a:pPr>
            <a:r>
              <a:rPr lang="en-US" b="true" sz="5600">
                <a:solidFill>
                  <a:srgbClr val="FFFFFF"/>
                </a:solidFill>
                <a:latin typeface="Neue Machina Ultra-Bold"/>
                <a:ea typeface="Neue Machina Ultra-Bold"/>
                <a:cs typeface="Neue Machina Ultra-Bold"/>
                <a:sym typeface="Neue Machina Ultra-Bold"/>
              </a:rPr>
              <a:t>MongoDB</a:t>
            </a:r>
          </a:p>
        </p:txBody>
      </p:sp>
      <p:grpSp>
        <p:nvGrpSpPr>
          <p:cNvPr name="Group 4" id="4"/>
          <p:cNvGrpSpPr/>
          <p:nvPr/>
        </p:nvGrpSpPr>
        <p:grpSpPr>
          <a:xfrm rot="0">
            <a:off x="1028700" y="3188929"/>
            <a:ext cx="7944325" cy="2762807"/>
            <a:chOff x="0" y="0"/>
            <a:chExt cx="2144539" cy="745809"/>
          </a:xfrm>
        </p:grpSpPr>
        <p:sp>
          <p:nvSpPr>
            <p:cNvPr name="Freeform 5" id="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6" id="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2709303" y="3720508"/>
            <a:ext cx="4583119"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Dokumen-Oriented</a:t>
            </a:r>
          </a:p>
        </p:txBody>
      </p:sp>
      <p:sp>
        <p:nvSpPr>
          <p:cNvPr name="TextBox 8" id="8"/>
          <p:cNvSpPr txBox="true"/>
          <p:nvPr/>
        </p:nvSpPr>
        <p:spPr>
          <a:xfrm rot="0">
            <a:off x="1529768" y="4249197"/>
            <a:ext cx="6942188" cy="1266825"/>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MongoDB menyimpan data dalam format dokumen menggunakan JSON-like format yang disebut BSON (Binary JSON)</a:t>
            </a:r>
          </a:p>
        </p:txBody>
      </p:sp>
      <p:grpSp>
        <p:nvGrpSpPr>
          <p:cNvPr name="Group 9" id="9"/>
          <p:cNvGrpSpPr/>
          <p:nvPr/>
        </p:nvGrpSpPr>
        <p:grpSpPr>
          <a:xfrm rot="0">
            <a:off x="1028700" y="6295282"/>
            <a:ext cx="7944325" cy="2229769"/>
            <a:chOff x="0" y="0"/>
            <a:chExt cx="2144539" cy="601917"/>
          </a:xfrm>
        </p:grpSpPr>
        <p:sp>
          <p:nvSpPr>
            <p:cNvPr name="Freeform 10" id="10"/>
            <p:cNvSpPr/>
            <p:nvPr/>
          </p:nvSpPr>
          <p:spPr>
            <a:xfrm flipH="false" flipV="false" rot="0">
              <a:off x="0" y="0"/>
              <a:ext cx="2144539" cy="601917"/>
            </a:xfrm>
            <a:custGeom>
              <a:avLst/>
              <a:gdLst/>
              <a:ahLst/>
              <a:cxnLst/>
              <a:rect r="r" b="b" t="t" l="l"/>
              <a:pathLst>
                <a:path h="601917" w="2144539">
                  <a:moveTo>
                    <a:pt x="24363" y="0"/>
                  </a:moveTo>
                  <a:lnTo>
                    <a:pt x="2120176" y="0"/>
                  </a:lnTo>
                  <a:cubicBezTo>
                    <a:pt x="2133632" y="0"/>
                    <a:pt x="2144539" y="10908"/>
                    <a:pt x="2144539" y="24363"/>
                  </a:cubicBezTo>
                  <a:lnTo>
                    <a:pt x="2144539" y="577554"/>
                  </a:lnTo>
                  <a:cubicBezTo>
                    <a:pt x="2144539" y="591010"/>
                    <a:pt x="2133632" y="601917"/>
                    <a:pt x="2120176" y="601917"/>
                  </a:cubicBezTo>
                  <a:lnTo>
                    <a:pt x="24363" y="601917"/>
                  </a:lnTo>
                  <a:cubicBezTo>
                    <a:pt x="10908" y="601917"/>
                    <a:pt x="0" y="591010"/>
                    <a:pt x="0" y="577554"/>
                  </a:cubicBezTo>
                  <a:lnTo>
                    <a:pt x="0" y="24363"/>
                  </a:lnTo>
                  <a:cubicBezTo>
                    <a:pt x="0" y="10908"/>
                    <a:pt x="10908" y="0"/>
                    <a:pt x="24363" y="0"/>
                  </a:cubicBezTo>
                  <a:close/>
                </a:path>
              </a:pathLst>
            </a:custGeom>
            <a:solidFill>
              <a:srgbClr val="FFFFFF"/>
            </a:solidFill>
            <a:ln cap="rnd">
              <a:noFill/>
              <a:prstDash val="solid"/>
              <a:round/>
            </a:ln>
          </p:spPr>
        </p:sp>
        <p:sp>
          <p:nvSpPr>
            <p:cNvPr name="TextBox 11" id="11"/>
            <p:cNvSpPr txBox="true"/>
            <p:nvPr/>
          </p:nvSpPr>
          <p:spPr>
            <a:xfrm>
              <a:off x="0" y="-57150"/>
              <a:ext cx="2144539" cy="659067"/>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2609429" y="6615787"/>
            <a:ext cx="4782866"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Fleksibilitas Skema</a:t>
            </a:r>
          </a:p>
        </p:txBody>
      </p:sp>
      <p:sp>
        <p:nvSpPr>
          <p:cNvPr name="TextBox 13" id="13"/>
          <p:cNvSpPr txBox="true"/>
          <p:nvPr/>
        </p:nvSpPr>
        <p:spPr>
          <a:xfrm rot="0">
            <a:off x="1443160" y="7287156"/>
            <a:ext cx="7115406" cy="857250"/>
          </a:xfrm>
          <a:prstGeom prst="rect">
            <a:avLst/>
          </a:prstGeom>
        </p:spPr>
        <p:txBody>
          <a:bodyPr anchor="t" rtlCol="false" tIns="0" lIns="0" bIns="0" rIns="0">
            <a:spAutoFit/>
          </a:bodyPr>
          <a:lstStyle/>
          <a:p>
            <a:pPr algn="ctr" marL="0" indent="0" lvl="0">
              <a:lnSpc>
                <a:spcPts val="3276"/>
              </a:lnSpc>
            </a:pPr>
            <a:r>
              <a:rPr lang="en-US" sz="2729">
                <a:solidFill>
                  <a:srgbClr val="121212"/>
                </a:solidFill>
                <a:latin typeface="Telegraf"/>
                <a:ea typeface="Telegraf"/>
                <a:cs typeface="Telegraf"/>
                <a:sym typeface="Telegraf"/>
              </a:rPr>
              <a:t> tidak perlu mendefinisikan struktur data di awal seperti pada database relasional.</a:t>
            </a:r>
          </a:p>
        </p:txBody>
      </p:sp>
      <p:grpSp>
        <p:nvGrpSpPr>
          <p:cNvPr name="Group 14" id="14"/>
          <p:cNvGrpSpPr/>
          <p:nvPr/>
        </p:nvGrpSpPr>
        <p:grpSpPr>
          <a:xfrm rot="0">
            <a:off x="9314975" y="3188929"/>
            <a:ext cx="7944325" cy="2762807"/>
            <a:chOff x="0" y="0"/>
            <a:chExt cx="2144539" cy="745809"/>
          </a:xfrm>
        </p:grpSpPr>
        <p:sp>
          <p:nvSpPr>
            <p:cNvPr name="Freeform 15" id="1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16" id="1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10485058" y="3720508"/>
            <a:ext cx="5604159"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Skalabilitas Horizontal</a:t>
            </a:r>
          </a:p>
        </p:txBody>
      </p:sp>
      <p:sp>
        <p:nvSpPr>
          <p:cNvPr name="TextBox 18" id="18"/>
          <p:cNvSpPr txBox="true"/>
          <p:nvPr/>
        </p:nvSpPr>
        <p:spPr>
          <a:xfrm rot="0">
            <a:off x="9816043" y="4249197"/>
            <a:ext cx="6942188" cy="1266825"/>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MongoDB mendukung sharding, yang memungkinkan data dibagi di antara beberapa server.</a:t>
            </a:r>
          </a:p>
        </p:txBody>
      </p:sp>
      <p:grpSp>
        <p:nvGrpSpPr>
          <p:cNvPr name="Group 19" id="19"/>
          <p:cNvGrpSpPr/>
          <p:nvPr/>
        </p:nvGrpSpPr>
        <p:grpSpPr>
          <a:xfrm rot="0">
            <a:off x="9314975" y="6295282"/>
            <a:ext cx="7944325" cy="2229769"/>
            <a:chOff x="0" y="0"/>
            <a:chExt cx="2144539" cy="601917"/>
          </a:xfrm>
        </p:grpSpPr>
        <p:sp>
          <p:nvSpPr>
            <p:cNvPr name="Freeform 20" id="20"/>
            <p:cNvSpPr/>
            <p:nvPr/>
          </p:nvSpPr>
          <p:spPr>
            <a:xfrm flipH="false" flipV="false" rot="0">
              <a:off x="0" y="0"/>
              <a:ext cx="2144539" cy="601917"/>
            </a:xfrm>
            <a:custGeom>
              <a:avLst/>
              <a:gdLst/>
              <a:ahLst/>
              <a:cxnLst/>
              <a:rect r="r" b="b" t="t" l="l"/>
              <a:pathLst>
                <a:path h="601917" w="2144539">
                  <a:moveTo>
                    <a:pt x="24363" y="0"/>
                  </a:moveTo>
                  <a:lnTo>
                    <a:pt x="2120176" y="0"/>
                  </a:lnTo>
                  <a:cubicBezTo>
                    <a:pt x="2133632" y="0"/>
                    <a:pt x="2144539" y="10908"/>
                    <a:pt x="2144539" y="24363"/>
                  </a:cubicBezTo>
                  <a:lnTo>
                    <a:pt x="2144539" y="577554"/>
                  </a:lnTo>
                  <a:cubicBezTo>
                    <a:pt x="2144539" y="591010"/>
                    <a:pt x="2133632" y="601917"/>
                    <a:pt x="2120176" y="601917"/>
                  </a:cubicBezTo>
                  <a:lnTo>
                    <a:pt x="24363" y="601917"/>
                  </a:lnTo>
                  <a:cubicBezTo>
                    <a:pt x="10908" y="601917"/>
                    <a:pt x="0" y="591010"/>
                    <a:pt x="0" y="577554"/>
                  </a:cubicBezTo>
                  <a:lnTo>
                    <a:pt x="0" y="24363"/>
                  </a:lnTo>
                  <a:cubicBezTo>
                    <a:pt x="0" y="10908"/>
                    <a:pt x="10908" y="0"/>
                    <a:pt x="24363" y="0"/>
                  </a:cubicBezTo>
                  <a:close/>
                </a:path>
              </a:pathLst>
            </a:custGeom>
            <a:solidFill>
              <a:srgbClr val="FFFFFF"/>
            </a:solidFill>
            <a:ln cap="rnd">
              <a:noFill/>
              <a:prstDash val="solid"/>
              <a:round/>
            </a:ln>
          </p:spPr>
        </p:sp>
        <p:sp>
          <p:nvSpPr>
            <p:cNvPr name="TextBox 21" id="21"/>
            <p:cNvSpPr txBox="true"/>
            <p:nvPr/>
          </p:nvSpPr>
          <p:spPr>
            <a:xfrm>
              <a:off x="0" y="-57150"/>
              <a:ext cx="2144539" cy="659067"/>
            </a:xfrm>
            <a:prstGeom prst="rect">
              <a:avLst/>
            </a:prstGeom>
          </p:spPr>
          <p:txBody>
            <a:bodyPr anchor="ctr" rtlCol="false" tIns="50800" lIns="50800" bIns="50800" rIns="50800"/>
            <a:lstStyle/>
            <a:p>
              <a:pPr algn="ctr">
                <a:lnSpc>
                  <a:spcPts val="2940"/>
                </a:lnSpc>
              </a:pPr>
            </a:p>
          </p:txBody>
        </p:sp>
      </p:grpSp>
      <p:sp>
        <p:nvSpPr>
          <p:cNvPr name="TextBox 22" id="22"/>
          <p:cNvSpPr txBox="true"/>
          <p:nvPr/>
        </p:nvSpPr>
        <p:spPr>
          <a:xfrm rot="0">
            <a:off x="9983989" y="6615787"/>
            <a:ext cx="6774242"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Query dan Indeksasi Canggih</a:t>
            </a:r>
          </a:p>
        </p:txBody>
      </p:sp>
      <p:sp>
        <p:nvSpPr>
          <p:cNvPr name="TextBox 23" id="23"/>
          <p:cNvSpPr txBox="true"/>
          <p:nvPr/>
        </p:nvSpPr>
        <p:spPr>
          <a:xfrm rot="0">
            <a:off x="9729435" y="7381592"/>
            <a:ext cx="7302441" cy="1073002"/>
          </a:xfrm>
          <a:prstGeom prst="rect">
            <a:avLst/>
          </a:prstGeom>
        </p:spPr>
        <p:txBody>
          <a:bodyPr anchor="t" rtlCol="false" tIns="0" lIns="0" bIns="0" rIns="0">
            <a:spAutoFit/>
          </a:bodyPr>
          <a:lstStyle/>
          <a:p>
            <a:pPr algn="ctr" marL="0" indent="0" lvl="0">
              <a:lnSpc>
                <a:spcPts val="2784"/>
              </a:lnSpc>
            </a:pPr>
            <a:r>
              <a:rPr lang="en-US" sz="2320">
                <a:solidFill>
                  <a:srgbClr val="121212"/>
                </a:solidFill>
                <a:latin typeface="Telegraf"/>
                <a:ea typeface="Telegraf"/>
                <a:cs typeface="Telegraf"/>
                <a:sym typeface="Telegraf"/>
              </a:rPr>
              <a:t>MongoDB mendukung query yang kuat dan fleksibel, dengan kemampuan pencarian berbasis indeks untuk mempercepat pencarian data</a:t>
            </a:r>
          </a:p>
        </p:txBody>
      </p:sp>
      <p:grpSp>
        <p:nvGrpSpPr>
          <p:cNvPr name="Group 24" id="24"/>
          <p:cNvGrpSpPr/>
          <p:nvPr/>
        </p:nvGrpSpPr>
        <p:grpSpPr>
          <a:xfrm rot="0">
            <a:off x="-372081" y="9258300"/>
            <a:ext cx="19032161" cy="1438558"/>
            <a:chOff x="0" y="0"/>
            <a:chExt cx="5137657" cy="388333"/>
          </a:xfrm>
        </p:grpSpPr>
        <p:sp>
          <p:nvSpPr>
            <p:cNvPr name="Freeform 25" id="25"/>
            <p:cNvSpPr/>
            <p:nvPr/>
          </p:nvSpPr>
          <p:spPr>
            <a:xfrm flipH="false" flipV="false" rot="0">
              <a:off x="0" y="0"/>
              <a:ext cx="5137657" cy="388333"/>
            </a:xfrm>
            <a:custGeom>
              <a:avLst/>
              <a:gdLst/>
              <a:ahLst/>
              <a:cxnLst/>
              <a:rect r="r" b="b" t="t" l="l"/>
              <a:pathLst>
                <a:path h="388333" w="5137657">
                  <a:moveTo>
                    <a:pt x="10170" y="0"/>
                  </a:moveTo>
                  <a:lnTo>
                    <a:pt x="5127487" y="0"/>
                  </a:lnTo>
                  <a:cubicBezTo>
                    <a:pt x="5133104" y="0"/>
                    <a:pt x="5137657" y="4553"/>
                    <a:pt x="5137657" y="10170"/>
                  </a:cubicBezTo>
                  <a:lnTo>
                    <a:pt x="5137657" y="378164"/>
                  </a:lnTo>
                  <a:cubicBezTo>
                    <a:pt x="5137657" y="383780"/>
                    <a:pt x="5133104" y="388333"/>
                    <a:pt x="5127487" y="388333"/>
                  </a:cubicBezTo>
                  <a:lnTo>
                    <a:pt x="10170" y="388333"/>
                  </a:lnTo>
                  <a:cubicBezTo>
                    <a:pt x="7472" y="388333"/>
                    <a:pt x="4886" y="387262"/>
                    <a:pt x="2979" y="385355"/>
                  </a:cubicBezTo>
                  <a:cubicBezTo>
                    <a:pt x="1071" y="383447"/>
                    <a:pt x="0" y="380861"/>
                    <a:pt x="0" y="378164"/>
                  </a:cubicBezTo>
                  <a:lnTo>
                    <a:pt x="0" y="10170"/>
                  </a:lnTo>
                  <a:cubicBezTo>
                    <a:pt x="0" y="7472"/>
                    <a:pt x="1071" y="4886"/>
                    <a:pt x="2979" y="2979"/>
                  </a:cubicBezTo>
                  <a:cubicBezTo>
                    <a:pt x="4886" y="1071"/>
                    <a:pt x="7472" y="0"/>
                    <a:pt x="10170" y="0"/>
                  </a:cubicBezTo>
                  <a:close/>
                </a:path>
              </a:pathLst>
            </a:custGeom>
            <a:solidFill>
              <a:srgbClr val="35CDCE"/>
            </a:solidFill>
            <a:ln cap="rnd">
              <a:noFill/>
              <a:prstDash val="solid"/>
              <a:round/>
            </a:ln>
          </p:spPr>
        </p:sp>
        <p:sp>
          <p:nvSpPr>
            <p:cNvPr name="TextBox 26" id="26"/>
            <p:cNvSpPr txBox="true"/>
            <p:nvPr/>
          </p:nvSpPr>
          <p:spPr>
            <a:xfrm>
              <a:off x="0" y="-57150"/>
              <a:ext cx="5137657" cy="445483"/>
            </a:xfrm>
            <a:prstGeom prst="rect">
              <a:avLst/>
            </a:prstGeom>
          </p:spPr>
          <p:txBody>
            <a:bodyPr anchor="ctr" rtlCol="false" tIns="50800" lIns="50800" bIns="50800" rIns="50800"/>
            <a:lstStyle/>
            <a:p>
              <a:pPr algn="ctr">
                <a:lnSpc>
                  <a:spcPts val="2940"/>
                </a:lnSpc>
              </a:pPr>
            </a:p>
          </p:txBody>
        </p:sp>
      </p:grpSp>
      <p:sp>
        <p:nvSpPr>
          <p:cNvPr name="Freeform 27" id="27"/>
          <p:cNvSpPr/>
          <p:nvPr/>
        </p:nvSpPr>
        <p:spPr>
          <a:xfrm flipH="false" flipV="false" rot="-5400000">
            <a:off x="17621347" y="2058335"/>
            <a:ext cx="1032858" cy="1044610"/>
          </a:xfrm>
          <a:custGeom>
            <a:avLst/>
            <a:gdLst/>
            <a:ahLst/>
            <a:cxnLst/>
            <a:rect r="r" b="b" t="t" l="l"/>
            <a:pathLst>
              <a:path h="1044610" w="1032858">
                <a:moveTo>
                  <a:pt x="0" y="0"/>
                </a:moveTo>
                <a:lnTo>
                  <a:pt x="1032858" y="0"/>
                </a:lnTo>
                <a:lnTo>
                  <a:pt x="1032858" y="1044610"/>
                </a:lnTo>
                <a:lnTo>
                  <a:pt x="0" y="1044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3231471">
            <a:off x="-159757" y="1720693"/>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true" flipV="false" rot="-5400000">
            <a:off x="-366205" y="6286522"/>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0">
            <a:off x="17788751" y="7325256"/>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3417064"/>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38309" y="1123950"/>
            <a:ext cx="13811382" cy="751840"/>
          </a:xfrm>
          <a:prstGeom prst="rect">
            <a:avLst/>
          </a:prstGeom>
        </p:spPr>
        <p:txBody>
          <a:bodyPr anchor="t" rtlCol="false" tIns="0" lIns="0" bIns="0" rIns="0">
            <a:spAutoFit/>
          </a:bodyPr>
          <a:lstStyle/>
          <a:p>
            <a:pPr algn="ctr">
              <a:lnSpc>
                <a:spcPts val="5600"/>
              </a:lnSpc>
            </a:pPr>
            <a:r>
              <a:rPr lang="en-US" b="true" sz="5600">
                <a:solidFill>
                  <a:srgbClr val="FFFFFF"/>
                </a:solidFill>
                <a:latin typeface="Neue Machina Ultra-Bold"/>
                <a:ea typeface="Neue Machina Ultra-Bold"/>
                <a:cs typeface="Neue Machina Ultra-Bold"/>
                <a:sym typeface="Neue Machina Ultra-Bold"/>
              </a:rPr>
              <a:t>MongoDB</a:t>
            </a:r>
          </a:p>
        </p:txBody>
      </p:sp>
      <p:grpSp>
        <p:nvGrpSpPr>
          <p:cNvPr name="Group 4" id="4"/>
          <p:cNvGrpSpPr/>
          <p:nvPr/>
        </p:nvGrpSpPr>
        <p:grpSpPr>
          <a:xfrm rot="0">
            <a:off x="1028700" y="3188929"/>
            <a:ext cx="7944325" cy="2762807"/>
            <a:chOff x="0" y="0"/>
            <a:chExt cx="2144539" cy="745809"/>
          </a:xfrm>
        </p:grpSpPr>
        <p:sp>
          <p:nvSpPr>
            <p:cNvPr name="Freeform 5" id="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6" id="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2709303" y="3720508"/>
            <a:ext cx="4583119"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Database</a:t>
            </a:r>
          </a:p>
        </p:txBody>
      </p:sp>
      <p:sp>
        <p:nvSpPr>
          <p:cNvPr name="TextBox 8" id="8"/>
          <p:cNvSpPr txBox="true"/>
          <p:nvPr/>
        </p:nvSpPr>
        <p:spPr>
          <a:xfrm rot="0">
            <a:off x="1529768" y="4249197"/>
            <a:ext cx="6942188" cy="447675"/>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unit yang mengorganisir koleksi data</a:t>
            </a:r>
          </a:p>
        </p:txBody>
      </p:sp>
      <p:grpSp>
        <p:nvGrpSpPr>
          <p:cNvPr name="Group 9" id="9"/>
          <p:cNvGrpSpPr/>
          <p:nvPr/>
        </p:nvGrpSpPr>
        <p:grpSpPr>
          <a:xfrm rot="0">
            <a:off x="5342812" y="6553890"/>
            <a:ext cx="7944325" cy="2229769"/>
            <a:chOff x="0" y="0"/>
            <a:chExt cx="2144539" cy="601917"/>
          </a:xfrm>
        </p:grpSpPr>
        <p:sp>
          <p:nvSpPr>
            <p:cNvPr name="Freeform 10" id="10"/>
            <p:cNvSpPr/>
            <p:nvPr/>
          </p:nvSpPr>
          <p:spPr>
            <a:xfrm flipH="false" flipV="false" rot="0">
              <a:off x="0" y="0"/>
              <a:ext cx="2144539" cy="601917"/>
            </a:xfrm>
            <a:custGeom>
              <a:avLst/>
              <a:gdLst/>
              <a:ahLst/>
              <a:cxnLst/>
              <a:rect r="r" b="b" t="t" l="l"/>
              <a:pathLst>
                <a:path h="601917" w="2144539">
                  <a:moveTo>
                    <a:pt x="24363" y="0"/>
                  </a:moveTo>
                  <a:lnTo>
                    <a:pt x="2120176" y="0"/>
                  </a:lnTo>
                  <a:cubicBezTo>
                    <a:pt x="2133632" y="0"/>
                    <a:pt x="2144539" y="10908"/>
                    <a:pt x="2144539" y="24363"/>
                  </a:cubicBezTo>
                  <a:lnTo>
                    <a:pt x="2144539" y="577554"/>
                  </a:lnTo>
                  <a:cubicBezTo>
                    <a:pt x="2144539" y="591010"/>
                    <a:pt x="2133632" y="601917"/>
                    <a:pt x="2120176" y="601917"/>
                  </a:cubicBezTo>
                  <a:lnTo>
                    <a:pt x="24363" y="601917"/>
                  </a:lnTo>
                  <a:cubicBezTo>
                    <a:pt x="10908" y="601917"/>
                    <a:pt x="0" y="591010"/>
                    <a:pt x="0" y="577554"/>
                  </a:cubicBezTo>
                  <a:lnTo>
                    <a:pt x="0" y="24363"/>
                  </a:lnTo>
                  <a:cubicBezTo>
                    <a:pt x="0" y="10908"/>
                    <a:pt x="10908" y="0"/>
                    <a:pt x="24363" y="0"/>
                  </a:cubicBezTo>
                  <a:close/>
                </a:path>
              </a:pathLst>
            </a:custGeom>
            <a:solidFill>
              <a:srgbClr val="FFFFFF"/>
            </a:solidFill>
            <a:ln cap="rnd">
              <a:noFill/>
              <a:prstDash val="solid"/>
              <a:round/>
            </a:ln>
          </p:spPr>
        </p:sp>
        <p:sp>
          <p:nvSpPr>
            <p:cNvPr name="TextBox 11" id="11"/>
            <p:cNvSpPr txBox="true"/>
            <p:nvPr/>
          </p:nvSpPr>
          <p:spPr>
            <a:xfrm>
              <a:off x="0" y="-57150"/>
              <a:ext cx="2144539" cy="659067"/>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6923542" y="6874395"/>
            <a:ext cx="4782866"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Document</a:t>
            </a:r>
          </a:p>
        </p:txBody>
      </p:sp>
      <p:sp>
        <p:nvSpPr>
          <p:cNvPr name="TextBox 13" id="13"/>
          <p:cNvSpPr txBox="true"/>
          <p:nvPr/>
        </p:nvSpPr>
        <p:spPr>
          <a:xfrm rot="0">
            <a:off x="5757272" y="7545764"/>
            <a:ext cx="7115406" cy="857250"/>
          </a:xfrm>
          <a:prstGeom prst="rect">
            <a:avLst/>
          </a:prstGeom>
        </p:spPr>
        <p:txBody>
          <a:bodyPr anchor="t" rtlCol="false" tIns="0" lIns="0" bIns="0" rIns="0">
            <a:spAutoFit/>
          </a:bodyPr>
          <a:lstStyle/>
          <a:p>
            <a:pPr algn="ctr" marL="0" indent="0" lvl="0">
              <a:lnSpc>
                <a:spcPts val="3276"/>
              </a:lnSpc>
            </a:pPr>
            <a:r>
              <a:rPr lang="en-US" sz="2729">
                <a:solidFill>
                  <a:srgbClr val="121212"/>
                </a:solidFill>
                <a:latin typeface="Telegraf"/>
                <a:ea typeface="Telegraf"/>
                <a:cs typeface="Telegraf"/>
                <a:sym typeface="Telegraf"/>
              </a:rPr>
              <a:t>Entitas data yang disimpan dalam BSON (Binary JSON) format</a:t>
            </a:r>
          </a:p>
        </p:txBody>
      </p:sp>
      <p:grpSp>
        <p:nvGrpSpPr>
          <p:cNvPr name="Group 14" id="14"/>
          <p:cNvGrpSpPr/>
          <p:nvPr/>
        </p:nvGrpSpPr>
        <p:grpSpPr>
          <a:xfrm rot="0">
            <a:off x="9314975" y="3188929"/>
            <a:ext cx="7944325" cy="2762807"/>
            <a:chOff x="0" y="0"/>
            <a:chExt cx="2144539" cy="745809"/>
          </a:xfrm>
        </p:grpSpPr>
        <p:sp>
          <p:nvSpPr>
            <p:cNvPr name="Freeform 15" id="1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16" id="1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10485058" y="3720508"/>
            <a:ext cx="5604159"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Collection</a:t>
            </a:r>
          </a:p>
        </p:txBody>
      </p:sp>
      <p:sp>
        <p:nvSpPr>
          <p:cNvPr name="TextBox 18" id="18"/>
          <p:cNvSpPr txBox="true"/>
          <p:nvPr/>
        </p:nvSpPr>
        <p:spPr>
          <a:xfrm rot="0">
            <a:off x="9816043" y="4249197"/>
            <a:ext cx="6942188" cy="857250"/>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Sekumpulan dokumen yang setara dengan tabel dalam database relasional</a:t>
            </a:r>
          </a:p>
        </p:txBody>
      </p:sp>
      <p:grpSp>
        <p:nvGrpSpPr>
          <p:cNvPr name="Group 19" id="19"/>
          <p:cNvGrpSpPr/>
          <p:nvPr/>
        </p:nvGrpSpPr>
        <p:grpSpPr>
          <a:xfrm rot="0">
            <a:off x="-372081" y="9258300"/>
            <a:ext cx="19032161" cy="1438558"/>
            <a:chOff x="0" y="0"/>
            <a:chExt cx="5137657" cy="388333"/>
          </a:xfrm>
        </p:grpSpPr>
        <p:sp>
          <p:nvSpPr>
            <p:cNvPr name="Freeform 20" id="20"/>
            <p:cNvSpPr/>
            <p:nvPr/>
          </p:nvSpPr>
          <p:spPr>
            <a:xfrm flipH="false" flipV="false" rot="0">
              <a:off x="0" y="0"/>
              <a:ext cx="5137657" cy="388333"/>
            </a:xfrm>
            <a:custGeom>
              <a:avLst/>
              <a:gdLst/>
              <a:ahLst/>
              <a:cxnLst/>
              <a:rect r="r" b="b" t="t" l="l"/>
              <a:pathLst>
                <a:path h="388333" w="5137657">
                  <a:moveTo>
                    <a:pt x="10170" y="0"/>
                  </a:moveTo>
                  <a:lnTo>
                    <a:pt x="5127487" y="0"/>
                  </a:lnTo>
                  <a:cubicBezTo>
                    <a:pt x="5133104" y="0"/>
                    <a:pt x="5137657" y="4553"/>
                    <a:pt x="5137657" y="10170"/>
                  </a:cubicBezTo>
                  <a:lnTo>
                    <a:pt x="5137657" y="378164"/>
                  </a:lnTo>
                  <a:cubicBezTo>
                    <a:pt x="5137657" y="383780"/>
                    <a:pt x="5133104" y="388333"/>
                    <a:pt x="5127487" y="388333"/>
                  </a:cubicBezTo>
                  <a:lnTo>
                    <a:pt x="10170" y="388333"/>
                  </a:lnTo>
                  <a:cubicBezTo>
                    <a:pt x="7472" y="388333"/>
                    <a:pt x="4886" y="387262"/>
                    <a:pt x="2979" y="385355"/>
                  </a:cubicBezTo>
                  <a:cubicBezTo>
                    <a:pt x="1071" y="383447"/>
                    <a:pt x="0" y="380861"/>
                    <a:pt x="0" y="378164"/>
                  </a:cubicBezTo>
                  <a:lnTo>
                    <a:pt x="0" y="10170"/>
                  </a:lnTo>
                  <a:cubicBezTo>
                    <a:pt x="0" y="7472"/>
                    <a:pt x="1071" y="4886"/>
                    <a:pt x="2979" y="2979"/>
                  </a:cubicBezTo>
                  <a:cubicBezTo>
                    <a:pt x="4886" y="1071"/>
                    <a:pt x="7472" y="0"/>
                    <a:pt x="10170" y="0"/>
                  </a:cubicBezTo>
                  <a:close/>
                </a:path>
              </a:pathLst>
            </a:custGeom>
            <a:solidFill>
              <a:srgbClr val="35CDCE"/>
            </a:solidFill>
            <a:ln cap="rnd">
              <a:noFill/>
              <a:prstDash val="solid"/>
              <a:round/>
            </a:ln>
          </p:spPr>
        </p:sp>
        <p:sp>
          <p:nvSpPr>
            <p:cNvPr name="TextBox 21" id="21"/>
            <p:cNvSpPr txBox="true"/>
            <p:nvPr/>
          </p:nvSpPr>
          <p:spPr>
            <a:xfrm>
              <a:off x="0" y="-57150"/>
              <a:ext cx="5137657" cy="445483"/>
            </a:xfrm>
            <a:prstGeom prst="rect">
              <a:avLst/>
            </a:prstGeom>
          </p:spPr>
          <p:txBody>
            <a:bodyPr anchor="ctr" rtlCol="false" tIns="50800" lIns="50800" bIns="50800" rIns="50800"/>
            <a:lstStyle/>
            <a:p>
              <a:pPr algn="ctr">
                <a:lnSpc>
                  <a:spcPts val="2940"/>
                </a:lnSpc>
              </a:pPr>
            </a:p>
          </p:txBody>
        </p:sp>
      </p:grpSp>
      <p:sp>
        <p:nvSpPr>
          <p:cNvPr name="Freeform 22" id="22"/>
          <p:cNvSpPr/>
          <p:nvPr/>
        </p:nvSpPr>
        <p:spPr>
          <a:xfrm flipH="false" flipV="false" rot="-5400000">
            <a:off x="17621347" y="2058335"/>
            <a:ext cx="1032858" cy="1044610"/>
          </a:xfrm>
          <a:custGeom>
            <a:avLst/>
            <a:gdLst/>
            <a:ahLst/>
            <a:cxnLst/>
            <a:rect r="r" b="b" t="t" l="l"/>
            <a:pathLst>
              <a:path h="1044610" w="1032858">
                <a:moveTo>
                  <a:pt x="0" y="0"/>
                </a:moveTo>
                <a:lnTo>
                  <a:pt x="1032858" y="0"/>
                </a:lnTo>
                <a:lnTo>
                  <a:pt x="1032858" y="1044610"/>
                </a:lnTo>
                <a:lnTo>
                  <a:pt x="0" y="1044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3231471">
            <a:off x="-159757" y="1720693"/>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true" flipV="false" rot="-5400000">
            <a:off x="-366205" y="6286522"/>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7788751" y="7325256"/>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0" y="3417064"/>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38309" y="1123950"/>
            <a:ext cx="13811382" cy="751840"/>
          </a:xfrm>
          <a:prstGeom prst="rect">
            <a:avLst/>
          </a:prstGeom>
        </p:spPr>
        <p:txBody>
          <a:bodyPr anchor="t" rtlCol="false" tIns="0" lIns="0" bIns="0" rIns="0">
            <a:spAutoFit/>
          </a:bodyPr>
          <a:lstStyle/>
          <a:p>
            <a:pPr algn="ctr">
              <a:lnSpc>
                <a:spcPts val="5600"/>
              </a:lnSpc>
            </a:pPr>
            <a:r>
              <a:rPr lang="en-US" b="true" sz="5600">
                <a:solidFill>
                  <a:srgbClr val="FFFFFF"/>
                </a:solidFill>
                <a:latin typeface="Neue Machina Ultra-Bold"/>
                <a:ea typeface="Neue Machina Ultra-Bold"/>
                <a:cs typeface="Neue Machina Ultra-Bold"/>
                <a:sym typeface="Neue Machina Ultra-Bold"/>
              </a:rPr>
              <a:t>MongoDB</a:t>
            </a:r>
          </a:p>
        </p:txBody>
      </p:sp>
      <p:grpSp>
        <p:nvGrpSpPr>
          <p:cNvPr name="Group 4" id="4"/>
          <p:cNvGrpSpPr/>
          <p:nvPr/>
        </p:nvGrpSpPr>
        <p:grpSpPr>
          <a:xfrm rot="0">
            <a:off x="1028700" y="3188929"/>
            <a:ext cx="7944325" cy="2762807"/>
            <a:chOff x="0" y="0"/>
            <a:chExt cx="2144539" cy="745809"/>
          </a:xfrm>
        </p:grpSpPr>
        <p:sp>
          <p:nvSpPr>
            <p:cNvPr name="Freeform 5" id="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6" id="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1197271" y="3453542"/>
            <a:ext cx="7775754" cy="83375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Tidak Terlalu Tepat untuk Transaksi yang Sangat Kompleks</a:t>
            </a:r>
          </a:p>
        </p:txBody>
      </p:sp>
      <p:sp>
        <p:nvSpPr>
          <p:cNvPr name="TextBox 8" id="8"/>
          <p:cNvSpPr txBox="true"/>
          <p:nvPr/>
        </p:nvSpPr>
        <p:spPr>
          <a:xfrm rot="0">
            <a:off x="1358794" y="4249197"/>
            <a:ext cx="7614232" cy="1676400"/>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database ini tidak sekuat database relasional dalam hal ACID (Atomicity, Consistency, Isolation, Durability) dan pengelolaan transaksi yang sangat kompleks.</a:t>
            </a:r>
          </a:p>
        </p:txBody>
      </p:sp>
      <p:grpSp>
        <p:nvGrpSpPr>
          <p:cNvPr name="Group 9" id="9"/>
          <p:cNvGrpSpPr/>
          <p:nvPr/>
        </p:nvGrpSpPr>
        <p:grpSpPr>
          <a:xfrm rot="0">
            <a:off x="5426785" y="6490133"/>
            <a:ext cx="7944325" cy="2229769"/>
            <a:chOff x="0" y="0"/>
            <a:chExt cx="2144539" cy="601917"/>
          </a:xfrm>
        </p:grpSpPr>
        <p:sp>
          <p:nvSpPr>
            <p:cNvPr name="Freeform 10" id="10"/>
            <p:cNvSpPr/>
            <p:nvPr/>
          </p:nvSpPr>
          <p:spPr>
            <a:xfrm flipH="false" flipV="false" rot="0">
              <a:off x="0" y="0"/>
              <a:ext cx="2144539" cy="601917"/>
            </a:xfrm>
            <a:custGeom>
              <a:avLst/>
              <a:gdLst/>
              <a:ahLst/>
              <a:cxnLst/>
              <a:rect r="r" b="b" t="t" l="l"/>
              <a:pathLst>
                <a:path h="601917" w="2144539">
                  <a:moveTo>
                    <a:pt x="24363" y="0"/>
                  </a:moveTo>
                  <a:lnTo>
                    <a:pt x="2120176" y="0"/>
                  </a:lnTo>
                  <a:cubicBezTo>
                    <a:pt x="2133632" y="0"/>
                    <a:pt x="2144539" y="10908"/>
                    <a:pt x="2144539" y="24363"/>
                  </a:cubicBezTo>
                  <a:lnTo>
                    <a:pt x="2144539" y="577554"/>
                  </a:lnTo>
                  <a:cubicBezTo>
                    <a:pt x="2144539" y="591010"/>
                    <a:pt x="2133632" y="601917"/>
                    <a:pt x="2120176" y="601917"/>
                  </a:cubicBezTo>
                  <a:lnTo>
                    <a:pt x="24363" y="601917"/>
                  </a:lnTo>
                  <a:cubicBezTo>
                    <a:pt x="10908" y="601917"/>
                    <a:pt x="0" y="591010"/>
                    <a:pt x="0" y="577554"/>
                  </a:cubicBezTo>
                  <a:lnTo>
                    <a:pt x="0" y="24363"/>
                  </a:lnTo>
                  <a:cubicBezTo>
                    <a:pt x="0" y="10908"/>
                    <a:pt x="10908" y="0"/>
                    <a:pt x="24363" y="0"/>
                  </a:cubicBezTo>
                  <a:close/>
                </a:path>
              </a:pathLst>
            </a:custGeom>
            <a:solidFill>
              <a:srgbClr val="FFFFFF"/>
            </a:solidFill>
            <a:ln cap="rnd">
              <a:noFill/>
              <a:prstDash val="solid"/>
              <a:round/>
            </a:ln>
          </p:spPr>
        </p:sp>
        <p:sp>
          <p:nvSpPr>
            <p:cNvPr name="TextBox 11" id="11"/>
            <p:cNvSpPr txBox="true"/>
            <p:nvPr/>
          </p:nvSpPr>
          <p:spPr>
            <a:xfrm>
              <a:off x="0" y="-57150"/>
              <a:ext cx="2144539" cy="659067"/>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6003992" y="6810638"/>
            <a:ext cx="7120005" cy="43370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Kurangnya Standarisasi Query</a:t>
            </a:r>
          </a:p>
        </p:txBody>
      </p:sp>
      <p:sp>
        <p:nvSpPr>
          <p:cNvPr name="TextBox 13" id="13"/>
          <p:cNvSpPr txBox="true"/>
          <p:nvPr/>
        </p:nvSpPr>
        <p:spPr>
          <a:xfrm rot="0">
            <a:off x="5841245" y="7482007"/>
            <a:ext cx="7115406" cy="447675"/>
          </a:xfrm>
          <a:prstGeom prst="rect">
            <a:avLst/>
          </a:prstGeom>
        </p:spPr>
        <p:txBody>
          <a:bodyPr anchor="t" rtlCol="false" tIns="0" lIns="0" bIns="0" rIns="0">
            <a:spAutoFit/>
          </a:bodyPr>
          <a:lstStyle/>
          <a:p>
            <a:pPr algn="ctr" marL="0" indent="0" lvl="0">
              <a:lnSpc>
                <a:spcPts val="3276"/>
              </a:lnSpc>
            </a:pPr>
            <a:r>
              <a:rPr lang="en-US" sz="2729">
                <a:solidFill>
                  <a:srgbClr val="121212"/>
                </a:solidFill>
                <a:latin typeface="Telegraf"/>
                <a:ea typeface="Telegraf"/>
                <a:cs typeface="Telegraf"/>
                <a:sym typeface="Telegraf"/>
              </a:rPr>
              <a:t>menggunakan query berbasis JavaScript</a:t>
            </a:r>
          </a:p>
        </p:txBody>
      </p:sp>
      <p:grpSp>
        <p:nvGrpSpPr>
          <p:cNvPr name="Group 14" id="14"/>
          <p:cNvGrpSpPr/>
          <p:nvPr/>
        </p:nvGrpSpPr>
        <p:grpSpPr>
          <a:xfrm rot="0">
            <a:off x="9314975" y="3188929"/>
            <a:ext cx="7944325" cy="2762807"/>
            <a:chOff x="0" y="0"/>
            <a:chExt cx="2144539" cy="745809"/>
          </a:xfrm>
        </p:grpSpPr>
        <p:sp>
          <p:nvSpPr>
            <p:cNvPr name="Freeform 15" id="15"/>
            <p:cNvSpPr/>
            <p:nvPr/>
          </p:nvSpPr>
          <p:spPr>
            <a:xfrm flipH="false" flipV="false" rot="0">
              <a:off x="0" y="0"/>
              <a:ext cx="2144539" cy="745809"/>
            </a:xfrm>
            <a:custGeom>
              <a:avLst/>
              <a:gdLst/>
              <a:ahLst/>
              <a:cxnLst/>
              <a:rect r="r" b="b" t="t" l="l"/>
              <a:pathLst>
                <a:path h="745809" w="2144539">
                  <a:moveTo>
                    <a:pt x="24363" y="0"/>
                  </a:moveTo>
                  <a:lnTo>
                    <a:pt x="2120176" y="0"/>
                  </a:lnTo>
                  <a:cubicBezTo>
                    <a:pt x="2133632" y="0"/>
                    <a:pt x="2144539" y="10908"/>
                    <a:pt x="2144539" y="24363"/>
                  </a:cubicBezTo>
                  <a:lnTo>
                    <a:pt x="2144539" y="721446"/>
                  </a:lnTo>
                  <a:cubicBezTo>
                    <a:pt x="2144539" y="734901"/>
                    <a:pt x="2133632" y="745809"/>
                    <a:pt x="2120176" y="745809"/>
                  </a:cubicBezTo>
                  <a:lnTo>
                    <a:pt x="24363" y="745809"/>
                  </a:lnTo>
                  <a:cubicBezTo>
                    <a:pt x="10908" y="745809"/>
                    <a:pt x="0" y="734901"/>
                    <a:pt x="0" y="721446"/>
                  </a:cubicBezTo>
                  <a:lnTo>
                    <a:pt x="0" y="24363"/>
                  </a:lnTo>
                  <a:cubicBezTo>
                    <a:pt x="0" y="10908"/>
                    <a:pt x="10908" y="0"/>
                    <a:pt x="24363" y="0"/>
                  </a:cubicBezTo>
                  <a:close/>
                </a:path>
              </a:pathLst>
            </a:custGeom>
            <a:solidFill>
              <a:srgbClr val="FFFFFF"/>
            </a:solidFill>
            <a:ln cap="rnd">
              <a:noFill/>
              <a:prstDash val="solid"/>
              <a:round/>
            </a:ln>
          </p:spPr>
        </p:sp>
        <p:sp>
          <p:nvSpPr>
            <p:cNvPr name="TextBox 16" id="16"/>
            <p:cNvSpPr txBox="true"/>
            <p:nvPr/>
          </p:nvSpPr>
          <p:spPr>
            <a:xfrm>
              <a:off x="0" y="-57150"/>
              <a:ext cx="2144539" cy="802959"/>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10234523" y="3453542"/>
            <a:ext cx="6273174" cy="833755"/>
          </a:xfrm>
          <a:prstGeom prst="rect">
            <a:avLst/>
          </a:prstGeom>
        </p:spPr>
        <p:txBody>
          <a:bodyPr anchor="t" rtlCol="false" tIns="0" lIns="0" bIns="0" rIns="0">
            <a:spAutoFit/>
          </a:bodyPr>
          <a:lstStyle/>
          <a:p>
            <a:pPr algn="ctr">
              <a:lnSpc>
                <a:spcPts val="3200"/>
              </a:lnSpc>
            </a:pPr>
            <a:r>
              <a:rPr lang="en-US" b="true" sz="3200">
                <a:solidFill>
                  <a:srgbClr val="121212"/>
                </a:solidFill>
                <a:latin typeface="Neue Machina Ultra-Bold"/>
                <a:ea typeface="Neue Machina Ultra-Bold"/>
                <a:cs typeface="Neue Machina Ultra-Bold"/>
                <a:sym typeface="Neue Machina Ultra-Bold"/>
              </a:rPr>
              <a:t>Pengelolaan Memori yang Lebih Boros</a:t>
            </a:r>
          </a:p>
        </p:txBody>
      </p:sp>
      <p:sp>
        <p:nvSpPr>
          <p:cNvPr name="TextBox 18" id="18"/>
          <p:cNvSpPr txBox="true"/>
          <p:nvPr/>
        </p:nvSpPr>
        <p:spPr>
          <a:xfrm rot="0">
            <a:off x="9816043" y="4249197"/>
            <a:ext cx="6942188" cy="1266825"/>
          </a:xfrm>
          <a:prstGeom prst="rect">
            <a:avLst/>
          </a:prstGeom>
        </p:spPr>
        <p:txBody>
          <a:bodyPr anchor="t" rtlCol="false" tIns="0" lIns="0" bIns="0" rIns="0">
            <a:spAutoFit/>
          </a:bodyPr>
          <a:lstStyle/>
          <a:p>
            <a:pPr algn="ctr" marL="0" indent="0" lvl="0">
              <a:lnSpc>
                <a:spcPts val="3278"/>
              </a:lnSpc>
            </a:pPr>
            <a:r>
              <a:rPr lang="en-US" sz="2731">
                <a:solidFill>
                  <a:srgbClr val="121212"/>
                </a:solidFill>
                <a:latin typeface="Telegraf"/>
                <a:ea typeface="Telegraf"/>
                <a:cs typeface="Telegraf"/>
                <a:sym typeface="Telegraf"/>
              </a:rPr>
              <a:t>MongoDB mendukung sharding, yang memungkinkan data dibagi di antara beberapa server.</a:t>
            </a:r>
          </a:p>
        </p:txBody>
      </p:sp>
      <p:grpSp>
        <p:nvGrpSpPr>
          <p:cNvPr name="Group 19" id="19"/>
          <p:cNvGrpSpPr/>
          <p:nvPr/>
        </p:nvGrpSpPr>
        <p:grpSpPr>
          <a:xfrm rot="0">
            <a:off x="-372081" y="9258300"/>
            <a:ext cx="19032161" cy="1438558"/>
            <a:chOff x="0" y="0"/>
            <a:chExt cx="5137657" cy="388333"/>
          </a:xfrm>
        </p:grpSpPr>
        <p:sp>
          <p:nvSpPr>
            <p:cNvPr name="Freeform 20" id="20"/>
            <p:cNvSpPr/>
            <p:nvPr/>
          </p:nvSpPr>
          <p:spPr>
            <a:xfrm flipH="false" flipV="false" rot="0">
              <a:off x="0" y="0"/>
              <a:ext cx="5137657" cy="388333"/>
            </a:xfrm>
            <a:custGeom>
              <a:avLst/>
              <a:gdLst/>
              <a:ahLst/>
              <a:cxnLst/>
              <a:rect r="r" b="b" t="t" l="l"/>
              <a:pathLst>
                <a:path h="388333" w="5137657">
                  <a:moveTo>
                    <a:pt x="10170" y="0"/>
                  </a:moveTo>
                  <a:lnTo>
                    <a:pt x="5127487" y="0"/>
                  </a:lnTo>
                  <a:cubicBezTo>
                    <a:pt x="5133104" y="0"/>
                    <a:pt x="5137657" y="4553"/>
                    <a:pt x="5137657" y="10170"/>
                  </a:cubicBezTo>
                  <a:lnTo>
                    <a:pt x="5137657" y="378164"/>
                  </a:lnTo>
                  <a:cubicBezTo>
                    <a:pt x="5137657" y="383780"/>
                    <a:pt x="5133104" y="388333"/>
                    <a:pt x="5127487" y="388333"/>
                  </a:cubicBezTo>
                  <a:lnTo>
                    <a:pt x="10170" y="388333"/>
                  </a:lnTo>
                  <a:cubicBezTo>
                    <a:pt x="7472" y="388333"/>
                    <a:pt x="4886" y="387262"/>
                    <a:pt x="2979" y="385355"/>
                  </a:cubicBezTo>
                  <a:cubicBezTo>
                    <a:pt x="1071" y="383447"/>
                    <a:pt x="0" y="380861"/>
                    <a:pt x="0" y="378164"/>
                  </a:cubicBezTo>
                  <a:lnTo>
                    <a:pt x="0" y="10170"/>
                  </a:lnTo>
                  <a:cubicBezTo>
                    <a:pt x="0" y="7472"/>
                    <a:pt x="1071" y="4886"/>
                    <a:pt x="2979" y="2979"/>
                  </a:cubicBezTo>
                  <a:cubicBezTo>
                    <a:pt x="4886" y="1071"/>
                    <a:pt x="7472" y="0"/>
                    <a:pt x="10170" y="0"/>
                  </a:cubicBezTo>
                  <a:close/>
                </a:path>
              </a:pathLst>
            </a:custGeom>
            <a:solidFill>
              <a:srgbClr val="35CDCE"/>
            </a:solidFill>
            <a:ln cap="rnd">
              <a:noFill/>
              <a:prstDash val="solid"/>
              <a:round/>
            </a:ln>
          </p:spPr>
        </p:sp>
        <p:sp>
          <p:nvSpPr>
            <p:cNvPr name="TextBox 21" id="21"/>
            <p:cNvSpPr txBox="true"/>
            <p:nvPr/>
          </p:nvSpPr>
          <p:spPr>
            <a:xfrm>
              <a:off x="0" y="-57150"/>
              <a:ext cx="5137657" cy="445483"/>
            </a:xfrm>
            <a:prstGeom prst="rect">
              <a:avLst/>
            </a:prstGeom>
          </p:spPr>
          <p:txBody>
            <a:bodyPr anchor="ctr" rtlCol="false" tIns="50800" lIns="50800" bIns="50800" rIns="50800"/>
            <a:lstStyle/>
            <a:p>
              <a:pPr algn="ctr">
                <a:lnSpc>
                  <a:spcPts val="2940"/>
                </a:lnSpc>
              </a:pPr>
            </a:p>
          </p:txBody>
        </p:sp>
      </p:grpSp>
      <p:sp>
        <p:nvSpPr>
          <p:cNvPr name="Freeform 22" id="22"/>
          <p:cNvSpPr/>
          <p:nvPr/>
        </p:nvSpPr>
        <p:spPr>
          <a:xfrm flipH="false" flipV="false" rot="-5400000">
            <a:off x="17621347" y="2058335"/>
            <a:ext cx="1032858" cy="1044610"/>
          </a:xfrm>
          <a:custGeom>
            <a:avLst/>
            <a:gdLst/>
            <a:ahLst/>
            <a:cxnLst/>
            <a:rect r="r" b="b" t="t" l="l"/>
            <a:pathLst>
              <a:path h="1044610" w="1032858">
                <a:moveTo>
                  <a:pt x="0" y="0"/>
                </a:moveTo>
                <a:lnTo>
                  <a:pt x="1032858" y="0"/>
                </a:lnTo>
                <a:lnTo>
                  <a:pt x="1032858" y="1044610"/>
                </a:lnTo>
                <a:lnTo>
                  <a:pt x="0" y="1044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3231471">
            <a:off x="-159757" y="1720693"/>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true" flipV="false" rot="-5400000">
            <a:off x="-366205" y="6286522"/>
            <a:ext cx="1032858" cy="1044610"/>
          </a:xfrm>
          <a:custGeom>
            <a:avLst/>
            <a:gdLst/>
            <a:ahLst/>
            <a:cxnLst/>
            <a:rect r="r" b="b" t="t" l="l"/>
            <a:pathLst>
              <a:path h="1044610" w="1032858">
                <a:moveTo>
                  <a:pt x="1032858" y="0"/>
                </a:moveTo>
                <a:lnTo>
                  <a:pt x="0" y="0"/>
                </a:lnTo>
                <a:lnTo>
                  <a:pt x="0" y="1044610"/>
                </a:lnTo>
                <a:lnTo>
                  <a:pt x="1032858" y="1044610"/>
                </a:lnTo>
                <a:lnTo>
                  <a:pt x="10328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7788751" y="7325256"/>
            <a:ext cx="698049" cy="687037"/>
          </a:xfrm>
          <a:custGeom>
            <a:avLst/>
            <a:gdLst/>
            <a:ahLst/>
            <a:cxnLst/>
            <a:rect r="r" b="b" t="t" l="l"/>
            <a:pathLst>
              <a:path h="687037" w="698049">
                <a:moveTo>
                  <a:pt x="0" y="0"/>
                </a:moveTo>
                <a:lnTo>
                  <a:pt x="698049" y="0"/>
                </a:lnTo>
                <a:lnTo>
                  <a:pt x="698049" y="687037"/>
                </a:lnTo>
                <a:lnTo>
                  <a:pt x="0" y="6870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6931881" y="4295140"/>
            <a:ext cx="9859352" cy="3277235"/>
          </a:xfrm>
          <a:prstGeom prst="rect">
            <a:avLst/>
          </a:prstGeom>
        </p:spPr>
        <p:txBody>
          <a:bodyPr anchor="t" rtlCol="false" tIns="0" lIns="0" bIns="0" rIns="0">
            <a:spAutoFit/>
          </a:bodyPr>
          <a:lstStyle/>
          <a:p>
            <a:pPr algn="l">
              <a:lnSpc>
                <a:spcPts val="6399"/>
              </a:lnSpc>
            </a:pPr>
            <a:r>
              <a:rPr lang="en-US" sz="6399" b="true">
                <a:solidFill>
                  <a:srgbClr val="FFFFFF"/>
                </a:solidFill>
                <a:latin typeface="Neue Machina Ultra-Bold"/>
                <a:ea typeface="Neue Machina Ultra-Bold"/>
                <a:cs typeface="Neue Machina Ultra-Bold"/>
                <a:sym typeface="Neue Machina Ultra-Bold"/>
              </a:rPr>
              <a:t>Cara mengintegrasikan dan import data ke MongoDB</a:t>
            </a:r>
          </a:p>
        </p:txBody>
      </p:sp>
      <p:sp>
        <p:nvSpPr>
          <p:cNvPr name="Freeform 8" id="8"/>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607273" y="707395"/>
            <a:ext cx="12254094" cy="8271514"/>
          </a:xfrm>
          <a:custGeom>
            <a:avLst/>
            <a:gdLst/>
            <a:ahLst/>
            <a:cxnLst/>
            <a:rect r="r" b="b" t="t" l="l"/>
            <a:pathLst>
              <a:path h="8271514" w="12254094">
                <a:moveTo>
                  <a:pt x="0" y="0"/>
                </a:moveTo>
                <a:lnTo>
                  <a:pt x="12254095" y="0"/>
                </a:lnTo>
                <a:lnTo>
                  <a:pt x="12254095" y="8271514"/>
                </a:lnTo>
                <a:lnTo>
                  <a:pt x="0" y="8271514"/>
                </a:lnTo>
                <a:lnTo>
                  <a:pt x="0" y="0"/>
                </a:lnTo>
                <a:close/>
              </a:path>
            </a:pathLst>
          </a:custGeom>
          <a:blipFill>
            <a:blip r:embed="rId8"/>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536139" y="800076"/>
            <a:ext cx="12263505" cy="7649361"/>
          </a:xfrm>
          <a:custGeom>
            <a:avLst/>
            <a:gdLst/>
            <a:ahLst/>
            <a:cxnLst/>
            <a:rect r="r" b="b" t="t" l="l"/>
            <a:pathLst>
              <a:path h="7649361" w="12263505">
                <a:moveTo>
                  <a:pt x="0" y="0"/>
                </a:moveTo>
                <a:lnTo>
                  <a:pt x="12263505" y="0"/>
                </a:lnTo>
                <a:lnTo>
                  <a:pt x="12263505" y="7649361"/>
                </a:lnTo>
                <a:lnTo>
                  <a:pt x="0" y="7649361"/>
                </a:lnTo>
                <a:lnTo>
                  <a:pt x="0" y="0"/>
                </a:lnTo>
                <a:close/>
              </a:path>
            </a:pathLst>
          </a:custGeom>
          <a:blipFill>
            <a:blip r:embed="rId8"/>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4578649" y="-1355716"/>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03158">
            <a:off x="2582655" y="6708874"/>
            <a:ext cx="970165" cy="954860"/>
          </a:xfrm>
          <a:custGeom>
            <a:avLst/>
            <a:gdLst/>
            <a:ahLst/>
            <a:cxnLst/>
            <a:rect r="r" b="b" t="t" l="l"/>
            <a:pathLst>
              <a:path h="954860" w="970165">
                <a:moveTo>
                  <a:pt x="0" y="0"/>
                </a:moveTo>
                <a:lnTo>
                  <a:pt x="970165" y="0"/>
                </a:lnTo>
                <a:lnTo>
                  <a:pt x="970165" y="954860"/>
                </a:lnTo>
                <a:lnTo>
                  <a:pt x="0" y="9548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304065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8933930"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4827211" y="8978909"/>
            <a:ext cx="4209340" cy="267867"/>
          </a:xfrm>
          <a:custGeom>
            <a:avLst/>
            <a:gdLst/>
            <a:ahLst/>
            <a:cxnLst/>
            <a:rect r="r" b="b" t="t" l="l"/>
            <a:pathLst>
              <a:path h="267867" w="4209340">
                <a:moveTo>
                  <a:pt x="0" y="0"/>
                </a:moveTo>
                <a:lnTo>
                  <a:pt x="4209340" y="0"/>
                </a:lnTo>
                <a:lnTo>
                  <a:pt x="4209340" y="267867"/>
                </a:lnTo>
                <a:lnTo>
                  <a:pt x="0" y="267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1028700"/>
            <a:ext cx="730817" cy="719288"/>
          </a:xfrm>
          <a:custGeom>
            <a:avLst/>
            <a:gdLst/>
            <a:ahLst/>
            <a:cxnLst/>
            <a:rect r="r" b="b" t="t" l="l"/>
            <a:pathLst>
              <a:path h="719288" w="730817">
                <a:moveTo>
                  <a:pt x="0" y="0"/>
                </a:moveTo>
                <a:lnTo>
                  <a:pt x="730817" y="0"/>
                </a:lnTo>
                <a:lnTo>
                  <a:pt x="730817" y="719288"/>
                </a:lnTo>
                <a:lnTo>
                  <a:pt x="0" y="719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6718077" y="3049307"/>
            <a:ext cx="9859352" cy="4086860"/>
          </a:xfrm>
          <a:prstGeom prst="rect">
            <a:avLst/>
          </a:prstGeom>
        </p:spPr>
        <p:txBody>
          <a:bodyPr anchor="t" rtlCol="false" tIns="0" lIns="0" bIns="0" rIns="0">
            <a:spAutoFit/>
          </a:bodyPr>
          <a:lstStyle/>
          <a:p>
            <a:pPr algn="l">
              <a:lnSpc>
                <a:spcPts val="6399"/>
              </a:lnSpc>
            </a:pPr>
            <a:r>
              <a:rPr lang="en-US" sz="6399" b="true">
                <a:solidFill>
                  <a:srgbClr val="FFFFFF"/>
                </a:solidFill>
                <a:latin typeface="Neue Machina Ultra-Bold"/>
                <a:ea typeface="Neue Machina Ultra-Bold"/>
                <a:cs typeface="Neue Machina Ultra-Bold"/>
                <a:sym typeface="Neue Machina Ultra-Bold"/>
              </a:rPr>
              <a:t>https://www.kaggle.com/datasets/gauthamp10/google-playstore-apps?resource=download</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B0727"/>
        </a:solidFill>
      </p:bgPr>
    </p:bg>
    <p:spTree>
      <p:nvGrpSpPr>
        <p:cNvPr id="1" name=""/>
        <p:cNvGrpSpPr/>
        <p:nvPr/>
      </p:nvGrpSpPr>
      <p:grpSpPr>
        <a:xfrm>
          <a:off x="0" y="0"/>
          <a:ext cx="0" cy="0"/>
          <a:chOff x="0" y="0"/>
          <a:chExt cx="0" cy="0"/>
        </a:xfrm>
      </p:grpSpPr>
      <p:sp>
        <p:nvSpPr>
          <p:cNvPr name="Freeform 2" id="2"/>
          <p:cNvSpPr/>
          <p:nvPr/>
        </p:nvSpPr>
        <p:spPr>
          <a:xfrm flipH="false" flipV="false" rot="0">
            <a:off x="11465349" y="-1579382"/>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6220566" y="8219566"/>
            <a:ext cx="1032858" cy="1044610"/>
          </a:xfrm>
          <a:custGeom>
            <a:avLst/>
            <a:gdLst/>
            <a:ahLst/>
            <a:cxnLst/>
            <a:rect r="r" b="b" t="t" l="l"/>
            <a:pathLst>
              <a:path h="1044610" w="1032858">
                <a:moveTo>
                  <a:pt x="0" y="1044610"/>
                </a:moveTo>
                <a:lnTo>
                  <a:pt x="1032858" y="1044610"/>
                </a:lnTo>
                <a:lnTo>
                  <a:pt x="1032858" y="0"/>
                </a:lnTo>
                <a:lnTo>
                  <a:pt x="0" y="0"/>
                </a:lnTo>
                <a:lnTo>
                  <a:pt x="0" y="104461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371586" y="1374545"/>
            <a:ext cx="730817" cy="719288"/>
          </a:xfrm>
          <a:custGeom>
            <a:avLst/>
            <a:gdLst/>
            <a:ahLst/>
            <a:cxnLst/>
            <a:rect r="r" b="b" t="t" l="l"/>
            <a:pathLst>
              <a:path h="719288" w="730817">
                <a:moveTo>
                  <a:pt x="0" y="0"/>
                </a:moveTo>
                <a:lnTo>
                  <a:pt x="730818" y="0"/>
                </a:lnTo>
                <a:lnTo>
                  <a:pt x="730818" y="719288"/>
                </a:lnTo>
                <a:lnTo>
                  <a:pt x="0" y="719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050148" y="2714231"/>
            <a:ext cx="6544069" cy="6544069"/>
          </a:xfrm>
          <a:custGeom>
            <a:avLst/>
            <a:gdLst/>
            <a:ahLst/>
            <a:cxnLst/>
            <a:rect r="r" b="b" t="t" l="l"/>
            <a:pathLst>
              <a:path h="6544069" w="6544069">
                <a:moveTo>
                  <a:pt x="0" y="0"/>
                </a:moveTo>
                <a:lnTo>
                  <a:pt x="6544069" y="0"/>
                </a:lnTo>
                <a:lnTo>
                  <a:pt x="6544069" y="6544069"/>
                </a:lnTo>
                <a:lnTo>
                  <a:pt x="0" y="6544069"/>
                </a:lnTo>
                <a:lnTo>
                  <a:pt x="0" y="0"/>
                </a:lnTo>
                <a:close/>
              </a:path>
            </a:pathLst>
          </a:custGeom>
          <a:blipFill>
            <a:blip r:embed="rId8"/>
            <a:stretch>
              <a:fillRect l="0" t="0" r="0" b="0"/>
            </a:stretch>
          </a:blipFill>
        </p:spPr>
      </p:sp>
      <p:sp>
        <p:nvSpPr>
          <p:cNvPr name="TextBox 6" id="6"/>
          <p:cNvSpPr txBox="true"/>
          <p:nvPr/>
        </p:nvSpPr>
        <p:spPr>
          <a:xfrm rot="0">
            <a:off x="1611679" y="1602976"/>
            <a:ext cx="4893605" cy="848360"/>
          </a:xfrm>
          <a:prstGeom prst="rect">
            <a:avLst/>
          </a:prstGeom>
        </p:spPr>
        <p:txBody>
          <a:bodyPr anchor="t" rtlCol="false" tIns="0" lIns="0" bIns="0" rIns="0">
            <a:spAutoFit/>
          </a:bodyPr>
          <a:lstStyle/>
          <a:p>
            <a:pPr algn="l">
              <a:lnSpc>
                <a:spcPts val="6399"/>
              </a:lnSpc>
            </a:pPr>
            <a:r>
              <a:rPr lang="en-US" sz="6399" b="true">
                <a:solidFill>
                  <a:srgbClr val="FFFFFF"/>
                </a:solidFill>
                <a:latin typeface="Neue Machina Ultra-Bold"/>
                <a:ea typeface="Neue Machina Ultra-Bold"/>
                <a:cs typeface="Neue Machina Ultra-Bold"/>
                <a:sym typeface="Neue Machina Ultra-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DAGe5S_FBPs</dc:identifier>
  <dcterms:modified xsi:type="dcterms:W3CDTF">2011-08-01T06:04:30Z</dcterms:modified>
  <cp:revision>1</cp:revision>
  <dc:title>Basis Data Lanjutan</dc:title>
</cp:coreProperties>
</file>