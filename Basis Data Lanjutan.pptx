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Neue Machina Ultra-Bold" charset="1" panose="00000900000000000000"/>
      <p:regular r:id="rId24"/>
    </p:embeddedFont>
    <p:embeddedFont>
      <p:font typeface="Telegraf"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1864970"/>
            <a:ext cx="18288000" cy="6608660"/>
          </a:xfrm>
          <a:custGeom>
            <a:avLst/>
            <a:gdLst/>
            <a:ahLst/>
            <a:cxnLst/>
            <a:rect r="r" b="b" t="t" l="l"/>
            <a:pathLst>
              <a:path h="6608660" w="18288000">
                <a:moveTo>
                  <a:pt x="0" y="0"/>
                </a:moveTo>
                <a:lnTo>
                  <a:pt x="18288000" y="0"/>
                </a:lnTo>
                <a:lnTo>
                  <a:pt x="18288000" y="6608660"/>
                </a:lnTo>
                <a:lnTo>
                  <a:pt x="0" y="660866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176727"/>
            </a:stretch>
          </a:blipFill>
        </p:spPr>
      </p:sp>
      <p:grpSp>
        <p:nvGrpSpPr>
          <p:cNvPr name="Group 3" id="3"/>
          <p:cNvGrpSpPr/>
          <p:nvPr/>
        </p:nvGrpSpPr>
        <p:grpSpPr>
          <a:xfrm rot="0">
            <a:off x="2069254" y="6563383"/>
            <a:ext cx="7350316" cy="1042248"/>
            <a:chOff x="0" y="0"/>
            <a:chExt cx="1845258" cy="261651"/>
          </a:xfrm>
        </p:grpSpPr>
        <p:sp>
          <p:nvSpPr>
            <p:cNvPr name="Freeform 4" id="4"/>
            <p:cNvSpPr/>
            <p:nvPr/>
          </p:nvSpPr>
          <p:spPr>
            <a:xfrm flipH="false" flipV="false" rot="0">
              <a:off x="0" y="0"/>
              <a:ext cx="1845258" cy="261651"/>
            </a:xfrm>
            <a:custGeom>
              <a:avLst/>
              <a:gdLst/>
              <a:ahLst/>
              <a:cxnLst/>
              <a:rect r="r" b="b" t="t" l="l"/>
              <a:pathLst>
                <a:path h="261651" w="1845258">
                  <a:moveTo>
                    <a:pt x="105328" y="0"/>
                  </a:moveTo>
                  <a:lnTo>
                    <a:pt x="1739930" y="0"/>
                  </a:lnTo>
                  <a:cubicBezTo>
                    <a:pt x="1767865" y="0"/>
                    <a:pt x="1794655" y="11097"/>
                    <a:pt x="1814408" y="30850"/>
                  </a:cubicBezTo>
                  <a:cubicBezTo>
                    <a:pt x="1834161" y="50603"/>
                    <a:pt x="1845258" y="77393"/>
                    <a:pt x="1845258" y="105328"/>
                  </a:cubicBezTo>
                  <a:lnTo>
                    <a:pt x="1845258" y="156323"/>
                  </a:lnTo>
                  <a:cubicBezTo>
                    <a:pt x="1845258" y="214494"/>
                    <a:pt x="1798101" y="261651"/>
                    <a:pt x="1739930" y="261651"/>
                  </a:cubicBezTo>
                  <a:lnTo>
                    <a:pt x="105328" y="261651"/>
                  </a:lnTo>
                  <a:cubicBezTo>
                    <a:pt x="47157" y="261651"/>
                    <a:pt x="0" y="214494"/>
                    <a:pt x="0" y="156323"/>
                  </a:cubicBezTo>
                  <a:lnTo>
                    <a:pt x="0" y="105328"/>
                  </a:lnTo>
                  <a:cubicBezTo>
                    <a:pt x="0" y="47157"/>
                    <a:pt x="47157" y="0"/>
                    <a:pt x="105328" y="0"/>
                  </a:cubicBezTo>
                  <a:close/>
                </a:path>
              </a:pathLst>
            </a:custGeom>
            <a:solidFill>
              <a:srgbClr val="35CDCE"/>
            </a:solidFill>
          </p:spPr>
        </p:sp>
        <p:sp>
          <p:nvSpPr>
            <p:cNvPr name="TextBox 5" id="5"/>
            <p:cNvSpPr txBox="true"/>
            <p:nvPr/>
          </p:nvSpPr>
          <p:spPr>
            <a:xfrm>
              <a:off x="0" y="-57150"/>
              <a:ext cx="1845258" cy="318801"/>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2069254" y="3710377"/>
            <a:ext cx="8598900" cy="2175331"/>
          </a:xfrm>
          <a:prstGeom prst="rect">
            <a:avLst/>
          </a:prstGeom>
        </p:spPr>
        <p:txBody>
          <a:bodyPr anchor="t" rtlCol="false" tIns="0" lIns="0" bIns="0" rIns="0">
            <a:spAutoFit/>
          </a:bodyPr>
          <a:lstStyle/>
          <a:p>
            <a:pPr algn="l">
              <a:lnSpc>
                <a:spcPts val="8392"/>
              </a:lnSpc>
            </a:pPr>
            <a:r>
              <a:rPr lang="en-US" sz="8392" b="true">
                <a:solidFill>
                  <a:srgbClr val="FFFFFF"/>
                </a:solidFill>
                <a:latin typeface="Neue Machina Ultra-Bold"/>
                <a:ea typeface="Neue Machina Ultra-Bold"/>
                <a:cs typeface="Neue Machina Ultra-Bold"/>
                <a:sym typeface="Neue Machina Ultra-Bold"/>
              </a:rPr>
              <a:t>Basis Data Lanjutan</a:t>
            </a:r>
          </a:p>
        </p:txBody>
      </p:sp>
      <p:sp>
        <p:nvSpPr>
          <p:cNvPr name="TextBox 7" id="7"/>
          <p:cNvSpPr txBox="true"/>
          <p:nvPr/>
        </p:nvSpPr>
        <p:spPr>
          <a:xfrm rot="0">
            <a:off x="2661835" y="6685816"/>
            <a:ext cx="5277215" cy="653142"/>
          </a:xfrm>
          <a:prstGeom prst="rect">
            <a:avLst/>
          </a:prstGeom>
        </p:spPr>
        <p:txBody>
          <a:bodyPr anchor="t" rtlCol="false" tIns="0" lIns="0" bIns="0" rIns="0">
            <a:spAutoFit/>
          </a:bodyPr>
          <a:lstStyle/>
          <a:p>
            <a:pPr algn="ctr" marL="0" indent="0" lvl="0">
              <a:lnSpc>
                <a:spcPts val="5035"/>
              </a:lnSpc>
              <a:spcBef>
                <a:spcPct val="0"/>
              </a:spcBef>
            </a:pPr>
            <a:r>
              <a:rPr lang="en-US" sz="3357">
                <a:solidFill>
                  <a:srgbClr val="0B0727"/>
                </a:solidFill>
                <a:latin typeface="Telegraf"/>
                <a:ea typeface="Telegraf"/>
                <a:cs typeface="Telegraf"/>
                <a:sym typeface="Telegraf"/>
              </a:rPr>
              <a:t>Naufal Fadhlullah</a:t>
            </a:r>
          </a:p>
        </p:txBody>
      </p:sp>
      <p:sp>
        <p:nvSpPr>
          <p:cNvPr name="Freeform 8" id="8"/>
          <p:cNvSpPr/>
          <p:nvPr/>
        </p:nvSpPr>
        <p:spPr>
          <a:xfrm flipH="false" flipV="false" rot="0">
            <a:off x="2069254" y="2612156"/>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5400000">
            <a:off x="15170069" y="7599756"/>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231471">
            <a:off x="10339193" y="2203571"/>
            <a:ext cx="830267" cy="817170"/>
          </a:xfrm>
          <a:custGeom>
            <a:avLst/>
            <a:gdLst/>
            <a:ahLst/>
            <a:cxnLst/>
            <a:rect r="r" b="b" t="t" l="l"/>
            <a:pathLst>
              <a:path h="817170" w="830267">
                <a:moveTo>
                  <a:pt x="0" y="0"/>
                </a:moveTo>
                <a:lnTo>
                  <a:pt x="830267" y="0"/>
                </a:lnTo>
                <a:lnTo>
                  <a:pt x="830267" y="817170"/>
                </a:lnTo>
                <a:lnTo>
                  <a:pt x="0" y="8171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8090346" y="6563383"/>
            <a:ext cx="2006341" cy="1042248"/>
            <a:chOff x="0" y="0"/>
            <a:chExt cx="677881" cy="352144"/>
          </a:xfrm>
        </p:grpSpPr>
        <p:sp>
          <p:nvSpPr>
            <p:cNvPr name="Freeform 12" id="12"/>
            <p:cNvSpPr/>
            <p:nvPr/>
          </p:nvSpPr>
          <p:spPr>
            <a:xfrm flipH="false" flipV="false" rot="0">
              <a:off x="0" y="0"/>
              <a:ext cx="677881" cy="352144"/>
            </a:xfrm>
            <a:custGeom>
              <a:avLst/>
              <a:gdLst/>
              <a:ahLst/>
              <a:cxnLst/>
              <a:rect r="r" b="b" t="t" l="l"/>
              <a:pathLst>
                <a:path h="352144" w="677881">
                  <a:moveTo>
                    <a:pt x="474681" y="0"/>
                  </a:moveTo>
                  <a:cubicBezTo>
                    <a:pt x="586906" y="0"/>
                    <a:pt x="677881" y="78830"/>
                    <a:pt x="677881" y="176072"/>
                  </a:cubicBezTo>
                  <a:cubicBezTo>
                    <a:pt x="677881" y="273314"/>
                    <a:pt x="586906" y="352144"/>
                    <a:pt x="474681" y="352144"/>
                  </a:cubicBezTo>
                  <a:lnTo>
                    <a:pt x="203200" y="352144"/>
                  </a:lnTo>
                  <a:cubicBezTo>
                    <a:pt x="90976" y="352144"/>
                    <a:pt x="0" y="273314"/>
                    <a:pt x="0" y="176072"/>
                  </a:cubicBezTo>
                  <a:cubicBezTo>
                    <a:pt x="0" y="78830"/>
                    <a:pt x="90976" y="0"/>
                    <a:pt x="203200" y="0"/>
                  </a:cubicBezTo>
                  <a:close/>
                </a:path>
              </a:pathLst>
            </a:custGeom>
            <a:solidFill>
              <a:srgbClr val="F3D339"/>
            </a:solidFill>
          </p:spPr>
        </p:sp>
        <p:sp>
          <p:nvSpPr>
            <p:cNvPr name="TextBox 13" id="13"/>
            <p:cNvSpPr txBox="true"/>
            <p:nvPr/>
          </p:nvSpPr>
          <p:spPr>
            <a:xfrm>
              <a:off x="0" y="-47625"/>
              <a:ext cx="677881" cy="39976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776842" y="6828691"/>
            <a:ext cx="633348" cy="504304"/>
          </a:xfrm>
          <a:custGeom>
            <a:avLst/>
            <a:gdLst/>
            <a:ahLst/>
            <a:cxnLst/>
            <a:rect r="r" b="b" t="t" l="l"/>
            <a:pathLst>
              <a:path h="504304" w="633348">
                <a:moveTo>
                  <a:pt x="0" y="0"/>
                </a:moveTo>
                <a:lnTo>
                  <a:pt x="633349" y="0"/>
                </a:lnTo>
                <a:lnTo>
                  <a:pt x="633349" y="504304"/>
                </a:lnTo>
                <a:lnTo>
                  <a:pt x="0" y="504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694212" y="1716290"/>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87800" y="-273984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722610" y="1697114"/>
            <a:ext cx="7024262"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Big Data</a:t>
            </a:r>
          </a:p>
        </p:txBody>
      </p:sp>
      <p:sp>
        <p:nvSpPr>
          <p:cNvPr name="TextBox 5" id="5"/>
          <p:cNvSpPr txBox="true"/>
          <p:nvPr/>
        </p:nvSpPr>
        <p:spPr>
          <a:xfrm rot="0">
            <a:off x="7722610" y="2621674"/>
            <a:ext cx="8698275" cy="5903046"/>
          </a:xfrm>
          <a:prstGeom prst="rect">
            <a:avLst/>
          </a:prstGeom>
        </p:spPr>
        <p:txBody>
          <a:bodyPr anchor="t" rtlCol="false" tIns="0" lIns="0" bIns="0" rIns="0">
            <a:spAutoFit/>
          </a:bodyPr>
          <a:lstStyle/>
          <a:p>
            <a:pPr algn="just" marL="0" indent="0" lvl="0">
              <a:lnSpc>
                <a:spcPts val="4721"/>
              </a:lnSpc>
              <a:spcBef>
                <a:spcPct val="0"/>
              </a:spcBef>
            </a:pPr>
            <a:r>
              <a:rPr lang="en-US" sz="3147">
                <a:solidFill>
                  <a:srgbClr val="FFFFFF"/>
                </a:solidFill>
                <a:latin typeface="Telegraf"/>
                <a:ea typeface="Telegraf"/>
                <a:cs typeface="Telegraf"/>
                <a:sym typeface="Telegraf"/>
              </a:rPr>
              <a:t>Data adalah sekumpulan informasi yang terdiri dari beberapa fakta yang dapat berbentuk angka, kata-kata, atau simbol-simbol tertentu. Big data adalah sekumpulan data yang memiliki volume atau ukuran yang sangat besar yang terdiri dari data yang terstruktur (structured), semi-terstruktur (semi structured), dan tidak terstruktur (unstructured) yang dapat berkembang seiring waktu berjalan. </a:t>
            </a:r>
          </a:p>
        </p:txBody>
      </p:sp>
      <p:sp>
        <p:nvSpPr>
          <p:cNvPr name="Freeform 6" id="6"/>
          <p:cNvSpPr/>
          <p:nvPr/>
        </p:nvSpPr>
        <p:spPr>
          <a:xfrm flipH="false" flipV="false" rot="0">
            <a:off x="8276218" y="8738931"/>
            <a:ext cx="3907018" cy="248628"/>
          </a:xfrm>
          <a:custGeom>
            <a:avLst/>
            <a:gdLst/>
            <a:ahLst/>
            <a:cxnLst/>
            <a:rect r="r" b="b" t="t" l="l"/>
            <a:pathLst>
              <a:path h="248628" w="3907018">
                <a:moveTo>
                  <a:pt x="0" y="0"/>
                </a:moveTo>
                <a:lnTo>
                  <a:pt x="3907018" y="0"/>
                </a:lnTo>
                <a:lnTo>
                  <a:pt x="3907018" y="248629"/>
                </a:lnTo>
                <a:lnTo>
                  <a:pt x="0" y="248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231471">
            <a:off x="16367043" y="8370660"/>
            <a:ext cx="748347" cy="736542"/>
          </a:xfrm>
          <a:custGeom>
            <a:avLst/>
            <a:gdLst/>
            <a:ahLst/>
            <a:cxnLst/>
            <a:rect r="r" b="b" t="t" l="l"/>
            <a:pathLst>
              <a:path h="736542" w="748347">
                <a:moveTo>
                  <a:pt x="0" y="0"/>
                </a:moveTo>
                <a:lnTo>
                  <a:pt x="748347" y="0"/>
                </a:lnTo>
                <a:lnTo>
                  <a:pt x="748347" y="736542"/>
                </a:lnTo>
                <a:lnTo>
                  <a:pt x="0" y="7365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162876" y="-169026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33708" y="1028700"/>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231471">
            <a:off x="9816363" y="1623873"/>
            <a:ext cx="748347" cy="736542"/>
          </a:xfrm>
          <a:custGeom>
            <a:avLst/>
            <a:gdLst/>
            <a:ahLst/>
            <a:cxnLst/>
            <a:rect r="r" b="b" t="t" l="l"/>
            <a:pathLst>
              <a:path h="736542" w="748347">
                <a:moveTo>
                  <a:pt x="0" y="0"/>
                </a:moveTo>
                <a:lnTo>
                  <a:pt x="748347" y="0"/>
                </a:lnTo>
                <a:lnTo>
                  <a:pt x="748347" y="736541"/>
                </a:lnTo>
                <a:lnTo>
                  <a:pt x="0" y="7365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28700" y="8539012"/>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898641" y="3503272"/>
            <a:ext cx="7773812" cy="1741412"/>
          </a:xfrm>
          <a:prstGeom prst="rect">
            <a:avLst/>
          </a:prstGeom>
        </p:spPr>
        <p:txBody>
          <a:bodyPr anchor="t" rtlCol="false" tIns="0" lIns="0" bIns="0" rIns="0">
            <a:spAutoFit/>
          </a:bodyPr>
          <a:lstStyle/>
          <a:p>
            <a:pPr algn="l">
              <a:lnSpc>
                <a:spcPts val="13094"/>
              </a:lnSpc>
            </a:pPr>
            <a:r>
              <a:rPr lang="en-US" sz="13094" b="true">
                <a:solidFill>
                  <a:srgbClr val="FFFFFF"/>
                </a:solidFill>
                <a:latin typeface="Neue Machina Ultra-Bold"/>
                <a:ea typeface="Neue Machina Ultra-Bold"/>
                <a:cs typeface="Neue Machina Ultra-Bold"/>
                <a:sym typeface="Neue Machina Ultra-Bold"/>
              </a:rPr>
              <a:t>THREE V</a:t>
            </a:r>
          </a:p>
        </p:txBody>
      </p:sp>
      <p:sp>
        <p:nvSpPr>
          <p:cNvPr name="TextBox 8" id="8"/>
          <p:cNvSpPr txBox="true"/>
          <p:nvPr/>
        </p:nvSpPr>
        <p:spPr>
          <a:xfrm rot="-522866">
            <a:off x="1766723" y="6083223"/>
            <a:ext cx="3617568"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apasih Three V?</a:t>
            </a:r>
          </a:p>
        </p:txBody>
      </p:sp>
      <p:sp>
        <p:nvSpPr>
          <p:cNvPr name="TextBox 9" id="9"/>
          <p:cNvSpPr txBox="true"/>
          <p:nvPr/>
        </p:nvSpPr>
        <p:spPr>
          <a:xfrm rot="1144606">
            <a:off x="6232109" y="1354753"/>
            <a:ext cx="2931809"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baru denger</a:t>
            </a:r>
          </a:p>
        </p:txBody>
      </p:sp>
      <p:sp>
        <p:nvSpPr>
          <p:cNvPr name="TextBox 10" id="10"/>
          <p:cNvSpPr txBox="true"/>
          <p:nvPr/>
        </p:nvSpPr>
        <p:spPr>
          <a:xfrm rot="-1730899">
            <a:off x="1337360" y="1679832"/>
            <a:ext cx="2356033"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hah?????</a:t>
            </a:r>
          </a:p>
        </p:txBody>
      </p:sp>
      <p:sp>
        <p:nvSpPr>
          <p:cNvPr name="TextBox 11" id="11"/>
          <p:cNvSpPr txBox="true"/>
          <p:nvPr/>
        </p:nvSpPr>
        <p:spPr>
          <a:xfrm rot="1171728">
            <a:off x="6235267" y="6405292"/>
            <a:ext cx="3617568"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aduh apalagi 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210827" y="-286653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80982" y="9009672"/>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647339" y="1877840"/>
            <a:ext cx="7599143" cy="1927861"/>
          </a:xfrm>
          <a:prstGeom prst="rect">
            <a:avLst/>
          </a:prstGeom>
        </p:spPr>
        <p:txBody>
          <a:bodyPr anchor="t" rtlCol="false" tIns="0" lIns="0" bIns="0" rIns="0">
            <a:spAutoFit/>
          </a:bodyPr>
          <a:lstStyle/>
          <a:p>
            <a:pPr algn="l" marL="0" indent="0" lvl="0">
              <a:lnSpc>
                <a:spcPts val="5099"/>
              </a:lnSpc>
              <a:spcBef>
                <a:spcPct val="0"/>
              </a:spcBef>
            </a:pPr>
            <a:r>
              <a:rPr lang="en-US" sz="3399">
                <a:solidFill>
                  <a:srgbClr val="FFFFFF"/>
                </a:solidFill>
                <a:latin typeface="Telegraf"/>
                <a:ea typeface="Telegraf"/>
                <a:cs typeface="Telegraf"/>
                <a:sym typeface="Telegraf"/>
              </a:rPr>
              <a:t>volume adalah salah satu aspek yang harus dipertimbangkan dalam menangani big data.</a:t>
            </a:r>
          </a:p>
        </p:txBody>
      </p:sp>
      <p:sp>
        <p:nvSpPr>
          <p:cNvPr name="TextBox 5" id="5"/>
          <p:cNvSpPr txBox="true"/>
          <p:nvPr/>
        </p:nvSpPr>
        <p:spPr>
          <a:xfrm rot="0">
            <a:off x="8457193" y="1363370"/>
            <a:ext cx="7024262" cy="491490"/>
          </a:xfrm>
          <a:prstGeom prst="rect">
            <a:avLst/>
          </a:prstGeom>
        </p:spPr>
        <p:txBody>
          <a:bodyPr anchor="t" rtlCol="false" tIns="0" lIns="0" bIns="0" rIns="0">
            <a:spAutoFit/>
          </a:bodyPr>
          <a:lstStyle/>
          <a:p>
            <a:pPr algn="l" marL="777240" indent="-388620" lvl="1">
              <a:lnSpc>
                <a:spcPts val="3600"/>
              </a:lnSpc>
              <a:buAutoNum type="arabicPeriod" startAt="1"/>
            </a:pPr>
            <a:r>
              <a:rPr lang="en-US" b="true" sz="3600">
                <a:solidFill>
                  <a:srgbClr val="FFFFFF"/>
                </a:solidFill>
                <a:latin typeface="Neue Machina Ultra-Bold"/>
                <a:ea typeface="Neue Machina Ultra-Bold"/>
                <a:cs typeface="Neue Machina Ultra-Bold"/>
                <a:sym typeface="Neue Machina Ultra-Bold"/>
              </a:rPr>
              <a:t>Volume</a:t>
            </a:r>
          </a:p>
        </p:txBody>
      </p:sp>
      <p:sp>
        <p:nvSpPr>
          <p:cNvPr name="TextBox 6" id="6"/>
          <p:cNvSpPr txBox="true"/>
          <p:nvPr/>
        </p:nvSpPr>
        <p:spPr>
          <a:xfrm rot="0">
            <a:off x="8647339" y="5087548"/>
            <a:ext cx="8977771" cy="3674745"/>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FFFFFF"/>
                </a:solidFill>
                <a:latin typeface="Telegraf"/>
                <a:ea typeface="Telegraf"/>
                <a:cs typeface="Telegraf"/>
                <a:sym typeface="Telegraf"/>
              </a:rPr>
              <a:t>mengacu pada kecepatan data, seberapa cepat data dapat dihasilkan dan seberapa cepat data dapat diproses dan dianalisis untuk memenuhi suatu kebutuhan. Selain pengumpulan datanya yang harus cepat, kecepatan transfer data juga sangat berpengaruh, terlebih lagi dalam proses pengiriman data</a:t>
            </a:r>
          </a:p>
        </p:txBody>
      </p:sp>
      <p:sp>
        <p:nvSpPr>
          <p:cNvPr name="TextBox 7" id="7"/>
          <p:cNvSpPr txBox="true"/>
          <p:nvPr/>
        </p:nvSpPr>
        <p:spPr>
          <a:xfrm rot="0">
            <a:off x="8934779" y="4499121"/>
            <a:ext cx="7024262" cy="491490"/>
          </a:xfrm>
          <a:prstGeom prst="rect">
            <a:avLst/>
          </a:prstGeom>
        </p:spPr>
        <p:txBody>
          <a:bodyPr anchor="t" rtlCol="false" tIns="0" lIns="0" bIns="0" rIns="0">
            <a:spAutoFit/>
          </a:bodyPr>
          <a:lstStyle/>
          <a:p>
            <a:pPr algn="l">
              <a:lnSpc>
                <a:spcPts val="3600"/>
              </a:lnSpc>
            </a:pPr>
            <a:r>
              <a:rPr lang="en-US" sz="3600" b="true">
                <a:solidFill>
                  <a:srgbClr val="FFFFFF"/>
                </a:solidFill>
                <a:latin typeface="Neue Machina Ultra-Bold"/>
                <a:ea typeface="Neue Machina Ultra-Bold"/>
                <a:cs typeface="Neue Machina Ultra-Bold"/>
                <a:sym typeface="Neue Machina Ultra-Bold"/>
              </a:rPr>
              <a:t>2. Velocity</a:t>
            </a:r>
          </a:p>
        </p:txBody>
      </p:sp>
      <p:sp>
        <p:nvSpPr>
          <p:cNvPr name="Freeform 8" id="8"/>
          <p:cNvSpPr/>
          <p:nvPr/>
        </p:nvSpPr>
        <p:spPr>
          <a:xfrm flipH="true" flipV="true" rot="-5400000">
            <a:off x="1034344" y="8260642"/>
            <a:ext cx="992015" cy="1003302"/>
          </a:xfrm>
          <a:custGeom>
            <a:avLst/>
            <a:gdLst/>
            <a:ahLst/>
            <a:cxnLst/>
            <a:rect r="r" b="b" t="t" l="l"/>
            <a:pathLst>
              <a:path h="1003302" w="992015">
                <a:moveTo>
                  <a:pt x="992014" y="1003302"/>
                </a:moveTo>
                <a:lnTo>
                  <a:pt x="0" y="1003302"/>
                </a:lnTo>
                <a:lnTo>
                  <a:pt x="0" y="0"/>
                </a:lnTo>
                <a:lnTo>
                  <a:pt x="992014" y="0"/>
                </a:lnTo>
                <a:lnTo>
                  <a:pt x="992014" y="1003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231471">
            <a:off x="16456457" y="1268424"/>
            <a:ext cx="634237" cy="624232"/>
          </a:xfrm>
          <a:custGeom>
            <a:avLst/>
            <a:gdLst/>
            <a:ahLst/>
            <a:cxnLst/>
            <a:rect r="r" b="b" t="t" l="l"/>
            <a:pathLst>
              <a:path h="624232" w="634237">
                <a:moveTo>
                  <a:pt x="0" y="0"/>
                </a:moveTo>
                <a:lnTo>
                  <a:pt x="634238" y="0"/>
                </a:lnTo>
                <a:lnTo>
                  <a:pt x="634238"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136377">
            <a:off x="6983081" y="7399934"/>
            <a:ext cx="634237" cy="624232"/>
          </a:xfrm>
          <a:custGeom>
            <a:avLst/>
            <a:gdLst/>
            <a:ahLst/>
            <a:cxnLst/>
            <a:rect r="r" b="b" t="t" l="l"/>
            <a:pathLst>
              <a:path h="624232" w="634237">
                <a:moveTo>
                  <a:pt x="0" y="0"/>
                </a:moveTo>
                <a:lnTo>
                  <a:pt x="634237" y="0"/>
                </a:lnTo>
                <a:lnTo>
                  <a:pt x="634237"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210827" y="-286653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80982" y="9009672"/>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744634" y="4027779"/>
            <a:ext cx="8909365" cy="4421013"/>
          </a:xfrm>
          <a:prstGeom prst="rect">
            <a:avLst/>
          </a:prstGeom>
        </p:spPr>
        <p:txBody>
          <a:bodyPr anchor="t" rtlCol="false" tIns="0" lIns="0" bIns="0" rIns="0">
            <a:spAutoFit/>
          </a:bodyPr>
          <a:lstStyle/>
          <a:p>
            <a:pPr algn="l" marL="0" indent="0" lvl="0">
              <a:lnSpc>
                <a:spcPts val="4418"/>
              </a:lnSpc>
              <a:spcBef>
                <a:spcPct val="0"/>
              </a:spcBef>
            </a:pPr>
            <a:r>
              <a:rPr lang="en-US" sz="2945">
                <a:solidFill>
                  <a:srgbClr val="FFFFFF"/>
                </a:solidFill>
                <a:latin typeface="Telegraf"/>
                <a:ea typeface="Telegraf"/>
                <a:cs typeface="Telegraf"/>
                <a:sym typeface="Telegraf"/>
              </a:rPr>
              <a:t>beragamnya jenis data yang dimiliki oleh big data. Biasanya tipe data traditional lebih terstruktur, akan tetapi seiring berkembangnya big data, banyak data baru dengan bentuk data yang unstructured (tidak terstruktur) dan semi structured (semi-terstruktur), seperti contohnya sebuah text, atau data yang berupa audio, dan video. </a:t>
            </a:r>
          </a:p>
        </p:txBody>
      </p:sp>
      <p:sp>
        <p:nvSpPr>
          <p:cNvPr name="TextBox 5" id="5"/>
          <p:cNvSpPr txBox="true"/>
          <p:nvPr/>
        </p:nvSpPr>
        <p:spPr>
          <a:xfrm rot="0">
            <a:off x="8744634" y="3050731"/>
            <a:ext cx="7024262" cy="491490"/>
          </a:xfrm>
          <a:prstGeom prst="rect">
            <a:avLst/>
          </a:prstGeom>
        </p:spPr>
        <p:txBody>
          <a:bodyPr anchor="t" rtlCol="false" tIns="0" lIns="0" bIns="0" rIns="0">
            <a:spAutoFit/>
          </a:bodyPr>
          <a:lstStyle/>
          <a:p>
            <a:pPr algn="l">
              <a:lnSpc>
                <a:spcPts val="3600"/>
              </a:lnSpc>
            </a:pPr>
            <a:r>
              <a:rPr lang="en-US" sz="3600" b="true">
                <a:solidFill>
                  <a:srgbClr val="FFFFFF"/>
                </a:solidFill>
                <a:latin typeface="Neue Machina Ultra-Bold"/>
                <a:ea typeface="Neue Machina Ultra-Bold"/>
                <a:cs typeface="Neue Machina Ultra-Bold"/>
                <a:sym typeface="Neue Machina Ultra-Bold"/>
              </a:rPr>
              <a:t>3. Variety</a:t>
            </a:r>
          </a:p>
        </p:txBody>
      </p:sp>
      <p:sp>
        <p:nvSpPr>
          <p:cNvPr name="Freeform 6" id="6"/>
          <p:cNvSpPr/>
          <p:nvPr/>
        </p:nvSpPr>
        <p:spPr>
          <a:xfrm flipH="true" flipV="true" rot="-5400000">
            <a:off x="1034344" y="8260642"/>
            <a:ext cx="992015" cy="1003302"/>
          </a:xfrm>
          <a:custGeom>
            <a:avLst/>
            <a:gdLst/>
            <a:ahLst/>
            <a:cxnLst/>
            <a:rect r="r" b="b" t="t" l="l"/>
            <a:pathLst>
              <a:path h="1003302" w="992015">
                <a:moveTo>
                  <a:pt x="992014" y="1003302"/>
                </a:moveTo>
                <a:lnTo>
                  <a:pt x="0" y="1003302"/>
                </a:lnTo>
                <a:lnTo>
                  <a:pt x="0" y="0"/>
                </a:lnTo>
                <a:lnTo>
                  <a:pt x="992014" y="0"/>
                </a:lnTo>
                <a:lnTo>
                  <a:pt x="992014" y="1003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231471">
            <a:off x="16456457" y="1268424"/>
            <a:ext cx="634237" cy="624232"/>
          </a:xfrm>
          <a:custGeom>
            <a:avLst/>
            <a:gdLst/>
            <a:ahLst/>
            <a:cxnLst/>
            <a:rect r="r" b="b" t="t" l="l"/>
            <a:pathLst>
              <a:path h="624232" w="634237">
                <a:moveTo>
                  <a:pt x="0" y="0"/>
                </a:moveTo>
                <a:lnTo>
                  <a:pt x="634238" y="0"/>
                </a:lnTo>
                <a:lnTo>
                  <a:pt x="634238"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136377">
            <a:off x="6983081" y="7399934"/>
            <a:ext cx="634237" cy="624232"/>
          </a:xfrm>
          <a:custGeom>
            <a:avLst/>
            <a:gdLst/>
            <a:ahLst/>
            <a:cxnLst/>
            <a:rect r="r" b="b" t="t" l="l"/>
            <a:pathLst>
              <a:path h="624232" w="634237">
                <a:moveTo>
                  <a:pt x="0" y="0"/>
                </a:moveTo>
                <a:lnTo>
                  <a:pt x="634237" y="0"/>
                </a:lnTo>
                <a:lnTo>
                  <a:pt x="634237"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7493169"/>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4109" y="3779125"/>
            <a:ext cx="9417241" cy="4950835"/>
            <a:chOff x="0" y="0"/>
            <a:chExt cx="2480261" cy="1303924"/>
          </a:xfrm>
        </p:grpSpPr>
        <p:sp>
          <p:nvSpPr>
            <p:cNvPr name="Freeform 4" id="4"/>
            <p:cNvSpPr/>
            <p:nvPr/>
          </p:nvSpPr>
          <p:spPr>
            <a:xfrm flipH="false" flipV="false" rot="0">
              <a:off x="0" y="0"/>
              <a:ext cx="2480261" cy="1303924"/>
            </a:xfrm>
            <a:custGeom>
              <a:avLst/>
              <a:gdLst/>
              <a:ahLst/>
              <a:cxnLst/>
              <a:rect r="r" b="b" t="t" l="l"/>
              <a:pathLst>
                <a:path h="1303924" w="2480261">
                  <a:moveTo>
                    <a:pt x="41105" y="0"/>
                  </a:moveTo>
                  <a:lnTo>
                    <a:pt x="2439156" y="0"/>
                  </a:lnTo>
                  <a:cubicBezTo>
                    <a:pt x="2461858" y="0"/>
                    <a:pt x="2480261" y="18403"/>
                    <a:pt x="2480261" y="41105"/>
                  </a:cubicBezTo>
                  <a:lnTo>
                    <a:pt x="2480261" y="1262819"/>
                  </a:lnTo>
                  <a:cubicBezTo>
                    <a:pt x="2480261" y="1285520"/>
                    <a:pt x="2461858" y="1303924"/>
                    <a:pt x="2439156" y="1303924"/>
                  </a:cubicBezTo>
                  <a:lnTo>
                    <a:pt x="41105" y="1303924"/>
                  </a:lnTo>
                  <a:cubicBezTo>
                    <a:pt x="18403" y="1303924"/>
                    <a:pt x="0" y="1285520"/>
                    <a:pt x="0" y="1262819"/>
                  </a:cubicBezTo>
                  <a:lnTo>
                    <a:pt x="0" y="41105"/>
                  </a:lnTo>
                  <a:cubicBezTo>
                    <a:pt x="0" y="18403"/>
                    <a:pt x="18403" y="0"/>
                    <a:pt x="41105" y="0"/>
                  </a:cubicBezTo>
                  <a:close/>
                </a:path>
              </a:pathLst>
            </a:custGeom>
            <a:solidFill>
              <a:srgbClr val="FFFFFF"/>
            </a:solidFill>
          </p:spPr>
        </p:sp>
        <p:sp>
          <p:nvSpPr>
            <p:cNvPr name="TextBox 5" id="5"/>
            <p:cNvSpPr txBox="true"/>
            <p:nvPr/>
          </p:nvSpPr>
          <p:spPr>
            <a:xfrm>
              <a:off x="0" y="-57150"/>
              <a:ext cx="2480261" cy="1361074"/>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1394109" y="1680865"/>
            <a:ext cx="9417241" cy="1657985"/>
          </a:xfrm>
          <a:prstGeom prst="rect">
            <a:avLst/>
          </a:prstGeom>
        </p:spPr>
        <p:txBody>
          <a:bodyPr anchor="t" rtlCol="false" tIns="0" lIns="0" bIns="0" rIns="0">
            <a:spAutoFit/>
          </a:bodyPr>
          <a:lstStyle/>
          <a:p>
            <a:pPr algn="ctr">
              <a:lnSpc>
                <a:spcPts val="6399"/>
              </a:lnSpc>
            </a:pPr>
            <a:r>
              <a:rPr lang="en-US" b="true" sz="6399">
                <a:solidFill>
                  <a:srgbClr val="FFFFFF"/>
                </a:solidFill>
                <a:latin typeface="Neue Machina Ultra-Bold"/>
                <a:ea typeface="Neue Machina Ultra-Bold"/>
                <a:cs typeface="Neue Machina Ultra-Bold"/>
                <a:sym typeface="Neue Machina Ultra-Bold"/>
              </a:rPr>
              <a:t>karakteristik tambahan</a:t>
            </a:r>
          </a:p>
        </p:txBody>
      </p:sp>
      <p:sp>
        <p:nvSpPr>
          <p:cNvPr name="TextBox 7" id="7"/>
          <p:cNvSpPr txBox="true"/>
          <p:nvPr/>
        </p:nvSpPr>
        <p:spPr>
          <a:xfrm rot="0">
            <a:off x="2438718" y="5317579"/>
            <a:ext cx="7615116" cy="3163752"/>
          </a:xfrm>
          <a:prstGeom prst="rect">
            <a:avLst/>
          </a:prstGeom>
        </p:spPr>
        <p:txBody>
          <a:bodyPr anchor="t" rtlCol="false" tIns="0" lIns="0" bIns="0" rIns="0">
            <a:spAutoFit/>
          </a:bodyPr>
          <a:lstStyle/>
          <a:p>
            <a:pPr algn="l" marL="0" indent="0" lvl="0">
              <a:lnSpc>
                <a:spcPts val="5049"/>
              </a:lnSpc>
              <a:spcBef>
                <a:spcPct val="0"/>
              </a:spcBef>
            </a:pPr>
            <a:r>
              <a:rPr lang="en-US" sz="3366">
                <a:solidFill>
                  <a:srgbClr val="0B0727"/>
                </a:solidFill>
                <a:latin typeface="Telegraf"/>
                <a:ea typeface="Telegraf"/>
                <a:cs typeface="Telegraf"/>
                <a:sym typeface="Telegraf"/>
              </a:rPr>
              <a:t>Sebuah data dapat disebut memiliki value jika hasil dari pemrosesan data tersebut dapat membantu dalam pengambilan keputusan yang lebih baik</a:t>
            </a:r>
          </a:p>
        </p:txBody>
      </p:sp>
      <p:sp>
        <p:nvSpPr>
          <p:cNvPr name="TextBox 8" id="8"/>
          <p:cNvSpPr txBox="true"/>
          <p:nvPr/>
        </p:nvSpPr>
        <p:spPr>
          <a:xfrm rot="0">
            <a:off x="2438718" y="4717014"/>
            <a:ext cx="7024262" cy="491490"/>
          </a:xfrm>
          <a:prstGeom prst="rect">
            <a:avLst/>
          </a:prstGeom>
        </p:spPr>
        <p:txBody>
          <a:bodyPr anchor="t" rtlCol="false" tIns="0" lIns="0" bIns="0" rIns="0">
            <a:spAutoFit/>
          </a:bodyPr>
          <a:lstStyle/>
          <a:p>
            <a:pPr algn="l" marL="777240" indent="-388620" lvl="1">
              <a:lnSpc>
                <a:spcPts val="3600"/>
              </a:lnSpc>
              <a:buAutoNum type="arabicPeriod" startAt="1"/>
            </a:pPr>
            <a:r>
              <a:rPr lang="en-US" b="true" sz="3600">
                <a:solidFill>
                  <a:srgbClr val="0B0727"/>
                </a:solidFill>
                <a:latin typeface="Neue Machina Ultra-Bold"/>
                <a:ea typeface="Neue Machina Ultra-Bold"/>
                <a:cs typeface="Neue Machina Ultra-Bold"/>
                <a:sym typeface="Neue Machina Ultra-Bold"/>
              </a:rPr>
              <a:t>Value</a:t>
            </a:r>
          </a:p>
        </p:txBody>
      </p:sp>
      <p:sp>
        <p:nvSpPr>
          <p:cNvPr name="Freeform 9" id="9"/>
          <p:cNvSpPr/>
          <p:nvPr/>
        </p:nvSpPr>
        <p:spPr>
          <a:xfrm flipH="false" flipV="false" rot="0">
            <a:off x="12213599" y="8481331"/>
            <a:ext cx="3907018" cy="248628"/>
          </a:xfrm>
          <a:custGeom>
            <a:avLst/>
            <a:gdLst/>
            <a:ahLst/>
            <a:cxnLst/>
            <a:rect r="r" b="b" t="t" l="l"/>
            <a:pathLst>
              <a:path h="248628" w="3907018">
                <a:moveTo>
                  <a:pt x="0" y="0"/>
                </a:moveTo>
                <a:lnTo>
                  <a:pt x="3907017" y="0"/>
                </a:lnTo>
                <a:lnTo>
                  <a:pt x="3907017" y="248629"/>
                </a:lnTo>
                <a:lnTo>
                  <a:pt x="0" y="248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69763" y="7081045"/>
            <a:ext cx="730817" cy="719288"/>
          </a:xfrm>
          <a:custGeom>
            <a:avLst/>
            <a:gdLst/>
            <a:ahLst/>
            <a:cxnLst/>
            <a:rect r="r" b="b" t="t" l="l"/>
            <a:pathLst>
              <a:path h="719288" w="730817">
                <a:moveTo>
                  <a:pt x="0" y="0"/>
                </a:moveTo>
                <a:lnTo>
                  <a:pt x="730817" y="0"/>
                </a:lnTo>
                <a:lnTo>
                  <a:pt x="730817" y="719289"/>
                </a:lnTo>
                <a:lnTo>
                  <a:pt x="0" y="719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35801">
            <a:off x="10833634" y="1649279"/>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7493169"/>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4109" y="3779125"/>
            <a:ext cx="9417241" cy="4950835"/>
            <a:chOff x="0" y="0"/>
            <a:chExt cx="2480261" cy="1303924"/>
          </a:xfrm>
        </p:grpSpPr>
        <p:sp>
          <p:nvSpPr>
            <p:cNvPr name="Freeform 4" id="4"/>
            <p:cNvSpPr/>
            <p:nvPr/>
          </p:nvSpPr>
          <p:spPr>
            <a:xfrm flipH="false" flipV="false" rot="0">
              <a:off x="0" y="0"/>
              <a:ext cx="2480261" cy="1303924"/>
            </a:xfrm>
            <a:custGeom>
              <a:avLst/>
              <a:gdLst/>
              <a:ahLst/>
              <a:cxnLst/>
              <a:rect r="r" b="b" t="t" l="l"/>
              <a:pathLst>
                <a:path h="1303924" w="2480261">
                  <a:moveTo>
                    <a:pt x="41105" y="0"/>
                  </a:moveTo>
                  <a:lnTo>
                    <a:pt x="2439156" y="0"/>
                  </a:lnTo>
                  <a:cubicBezTo>
                    <a:pt x="2461858" y="0"/>
                    <a:pt x="2480261" y="18403"/>
                    <a:pt x="2480261" y="41105"/>
                  </a:cubicBezTo>
                  <a:lnTo>
                    <a:pt x="2480261" y="1262819"/>
                  </a:lnTo>
                  <a:cubicBezTo>
                    <a:pt x="2480261" y="1285520"/>
                    <a:pt x="2461858" y="1303924"/>
                    <a:pt x="2439156" y="1303924"/>
                  </a:cubicBezTo>
                  <a:lnTo>
                    <a:pt x="41105" y="1303924"/>
                  </a:lnTo>
                  <a:cubicBezTo>
                    <a:pt x="18403" y="1303924"/>
                    <a:pt x="0" y="1285520"/>
                    <a:pt x="0" y="1262819"/>
                  </a:cubicBezTo>
                  <a:lnTo>
                    <a:pt x="0" y="41105"/>
                  </a:lnTo>
                  <a:cubicBezTo>
                    <a:pt x="0" y="18403"/>
                    <a:pt x="18403" y="0"/>
                    <a:pt x="41105" y="0"/>
                  </a:cubicBezTo>
                  <a:close/>
                </a:path>
              </a:pathLst>
            </a:custGeom>
            <a:solidFill>
              <a:srgbClr val="FFFFFF"/>
            </a:solidFill>
          </p:spPr>
        </p:sp>
        <p:sp>
          <p:nvSpPr>
            <p:cNvPr name="TextBox 5" id="5"/>
            <p:cNvSpPr txBox="true"/>
            <p:nvPr/>
          </p:nvSpPr>
          <p:spPr>
            <a:xfrm>
              <a:off x="0" y="-57150"/>
              <a:ext cx="2480261" cy="1361074"/>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1394109" y="1680865"/>
            <a:ext cx="9417241" cy="1657985"/>
          </a:xfrm>
          <a:prstGeom prst="rect">
            <a:avLst/>
          </a:prstGeom>
        </p:spPr>
        <p:txBody>
          <a:bodyPr anchor="t" rtlCol="false" tIns="0" lIns="0" bIns="0" rIns="0">
            <a:spAutoFit/>
          </a:bodyPr>
          <a:lstStyle/>
          <a:p>
            <a:pPr algn="ctr">
              <a:lnSpc>
                <a:spcPts val="6399"/>
              </a:lnSpc>
            </a:pPr>
            <a:r>
              <a:rPr lang="en-US" b="true" sz="6399">
                <a:solidFill>
                  <a:srgbClr val="FFFFFF"/>
                </a:solidFill>
                <a:latin typeface="Neue Machina Ultra-Bold"/>
                <a:ea typeface="Neue Machina Ultra-Bold"/>
                <a:cs typeface="Neue Machina Ultra-Bold"/>
                <a:sym typeface="Neue Machina Ultra-Bold"/>
              </a:rPr>
              <a:t>karakteristik tambahan</a:t>
            </a:r>
          </a:p>
        </p:txBody>
      </p:sp>
      <p:sp>
        <p:nvSpPr>
          <p:cNvPr name="TextBox 7" id="7"/>
          <p:cNvSpPr txBox="true"/>
          <p:nvPr/>
        </p:nvSpPr>
        <p:spPr>
          <a:xfrm rot="0">
            <a:off x="1791018" y="4687753"/>
            <a:ext cx="8760325" cy="3793579"/>
          </a:xfrm>
          <a:prstGeom prst="rect">
            <a:avLst/>
          </a:prstGeom>
        </p:spPr>
        <p:txBody>
          <a:bodyPr anchor="t" rtlCol="false" tIns="0" lIns="0" bIns="0" rIns="0">
            <a:spAutoFit/>
          </a:bodyPr>
          <a:lstStyle/>
          <a:p>
            <a:pPr algn="l" marL="0" indent="0" lvl="0">
              <a:lnSpc>
                <a:spcPts val="5049"/>
              </a:lnSpc>
              <a:spcBef>
                <a:spcPct val="0"/>
              </a:spcBef>
            </a:pPr>
            <a:r>
              <a:rPr lang="en-US" sz="3366">
                <a:solidFill>
                  <a:srgbClr val="0B0727"/>
                </a:solidFill>
                <a:latin typeface="Telegraf"/>
                <a:ea typeface="Telegraf"/>
                <a:cs typeface="Telegraf"/>
                <a:sym typeface="Telegraf"/>
              </a:rPr>
              <a:t>mengacu pada tingkat akurasi dalam pengumpulan data dan seberapa akurat data tersebut. Dengan data yang memiliki tingkat keakuratan yang tinggi, maka pengambilan keputusan akan lebih baik dan maksimal.</a:t>
            </a:r>
          </a:p>
        </p:txBody>
      </p:sp>
      <p:sp>
        <p:nvSpPr>
          <p:cNvPr name="TextBox 8" id="8"/>
          <p:cNvSpPr txBox="true"/>
          <p:nvPr/>
        </p:nvSpPr>
        <p:spPr>
          <a:xfrm rot="0">
            <a:off x="2438718" y="4182482"/>
            <a:ext cx="7024262" cy="491490"/>
          </a:xfrm>
          <a:prstGeom prst="rect">
            <a:avLst/>
          </a:prstGeom>
        </p:spPr>
        <p:txBody>
          <a:bodyPr anchor="t" rtlCol="false" tIns="0" lIns="0" bIns="0" rIns="0">
            <a:spAutoFit/>
          </a:bodyPr>
          <a:lstStyle/>
          <a:p>
            <a:pPr algn="l">
              <a:lnSpc>
                <a:spcPts val="3600"/>
              </a:lnSpc>
            </a:pPr>
            <a:r>
              <a:rPr lang="en-US" sz="3600" b="true">
                <a:solidFill>
                  <a:srgbClr val="0B0727"/>
                </a:solidFill>
                <a:latin typeface="Neue Machina Ultra-Bold"/>
                <a:ea typeface="Neue Machina Ultra-Bold"/>
                <a:cs typeface="Neue Machina Ultra-Bold"/>
                <a:sym typeface="Neue Machina Ultra-Bold"/>
              </a:rPr>
              <a:t>2. Veracity</a:t>
            </a:r>
          </a:p>
        </p:txBody>
      </p:sp>
      <p:sp>
        <p:nvSpPr>
          <p:cNvPr name="Freeform 9" id="9"/>
          <p:cNvSpPr/>
          <p:nvPr/>
        </p:nvSpPr>
        <p:spPr>
          <a:xfrm flipH="false" flipV="false" rot="0">
            <a:off x="12213599" y="8481331"/>
            <a:ext cx="3907018" cy="248628"/>
          </a:xfrm>
          <a:custGeom>
            <a:avLst/>
            <a:gdLst/>
            <a:ahLst/>
            <a:cxnLst/>
            <a:rect r="r" b="b" t="t" l="l"/>
            <a:pathLst>
              <a:path h="248628" w="3907018">
                <a:moveTo>
                  <a:pt x="0" y="0"/>
                </a:moveTo>
                <a:lnTo>
                  <a:pt x="3907017" y="0"/>
                </a:lnTo>
                <a:lnTo>
                  <a:pt x="3907017" y="248629"/>
                </a:lnTo>
                <a:lnTo>
                  <a:pt x="0" y="248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69763" y="7081045"/>
            <a:ext cx="730817" cy="719288"/>
          </a:xfrm>
          <a:custGeom>
            <a:avLst/>
            <a:gdLst/>
            <a:ahLst/>
            <a:cxnLst/>
            <a:rect r="r" b="b" t="t" l="l"/>
            <a:pathLst>
              <a:path h="719288" w="730817">
                <a:moveTo>
                  <a:pt x="0" y="0"/>
                </a:moveTo>
                <a:lnTo>
                  <a:pt x="730817" y="0"/>
                </a:lnTo>
                <a:lnTo>
                  <a:pt x="730817" y="719289"/>
                </a:lnTo>
                <a:lnTo>
                  <a:pt x="0" y="719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35801">
            <a:off x="10833634" y="1649279"/>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162876" y="-169026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33708" y="1028700"/>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231471">
            <a:off x="9816363" y="1623873"/>
            <a:ext cx="748347" cy="736542"/>
          </a:xfrm>
          <a:custGeom>
            <a:avLst/>
            <a:gdLst/>
            <a:ahLst/>
            <a:cxnLst/>
            <a:rect r="r" b="b" t="t" l="l"/>
            <a:pathLst>
              <a:path h="736542" w="748347">
                <a:moveTo>
                  <a:pt x="0" y="0"/>
                </a:moveTo>
                <a:lnTo>
                  <a:pt x="748347" y="0"/>
                </a:lnTo>
                <a:lnTo>
                  <a:pt x="748347" y="736541"/>
                </a:lnTo>
                <a:lnTo>
                  <a:pt x="0" y="7365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28700" y="8539012"/>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394109" y="2663912"/>
            <a:ext cx="7773812" cy="5246888"/>
          </a:xfrm>
          <a:prstGeom prst="rect">
            <a:avLst/>
          </a:prstGeom>
        </p:spPr>
        <p:txBody>
          <a:bodyPr anchor="t" rtlCol="false" tIns="0" lIns="0" bIns="0" rIns="0">
            <a:spAutoFit/>
          </a:bodyPr>
          <a:lstStyle/>
          <a:p>
            <a:pPr algn="l">
              <a:lnSpc>
                <a:spcPts val="8195"/>
              </a:lnSpc>
            </a:pPr>
            <a:r>
              <a:rPr lang="en-US" sz="8195" b="true">
                <a:solidFill>
                  <a:srgbClr val="FFFFFF"/>
                </a:solidFill>
                <a:latin typeface="Neue Machina Ultra-Bold"/>
                <a:ea typeface="Neue Machina Ultra-Bold"/>
                <a:cs typeface="Neue Machina Ultra-Bold"/>
                <a:sym typeface="Neue Machina Ultra-Bold"/>
              </a:rPr>
              <a:t>Mengapa seorang statistisi perlu belajar Big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90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173329" y="3211822"/>
            <a:ext cx="11616012" cy="1969950"/>
            <a:chOff x="0" y="0"/>
            <a:chExt cx="3059361" cy="518835"/>
          </a:xfrm>
        </p:grpSpPr>
        <p:sp>
          <p:nvSpPr>
            <p:cNvPr name="Freeform 4" id="4"/>
            <p:cNvSpPr/>
            <p:nvPr/>
          </p:nvSpPr>
          <p:spPr>
            <a:xfrm flipH="false" flipV="false" rot="0">
              <a:off x="0" y="0"/>
              <a:ext cx="3059361" cy="518835"/>
            </a:xfrm>
            <a:custGeom>
              <a:avLst/>
              <a:gdLst/>
              <a:ahLst/>
              <a:cxnLst/>
              <a:rect r="r" b="b" t="t" l="l"/>
              <a:pathLst>
                <a:path h="518835" w="3059361">
                  <a:moveTo>
                    <a:pt x="16662" y="0"/>
                  </a:moveTo>
                  <a:lnTo>
                    <a:pt x="3042699" y="0"/>
                  </a:lnTo>
                  <a:cubicBezTo>
                    <a:pt x="3047118" y="0"/>
                    <a:pt x="3051356" y="1755"/>
                    <a:pt x="3054481" y="4880"/>
                  </a:cubicBezTo>
                  <a:cubicBezTo>
                    <a:pt x="3057606" y="8005"/>
                    <a:pt x="3059361" y="12243"/>
                    <a:pt x="3059361" y="16662"/>
                  </a:cubicBezTo>
                  <a:lnTo>
                    <a:pt x="3059361" y="502172"/>
                  </a:lnTo>
                  <a:cubicBezTo>
                    <a:pt x="3059361" y="506592"/>
                    <a:pt x="3057606" y="510830"/>
                    <a:pt x="3054481" y="513954"/>
                  </a:cubicBezTo>
                  <a:cubicBezTo>
                    <a:pt x="3051356" y="517079"/>
                    <a:pt x="3047118" y="518835"/>
                    <a:pt x="3042699" y="518835"/>
                  </a:cubicBezTo>
                  <a:lnTo>
                    <a:pt x="16662" y="518835"/>
                  </a:lnTo>
                  <a:cubicBezTo>
                    <a:pt x="7460" y="518835"/>
                    <a:pt x="0" y="511375"/>
                    <a:pt x="0" y="502172"/>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5" id="5"/>
            <p:cNvSpPr txBox="true"/>
            <p:nvPr/>
          </p:nvSpPr>
          <p:spPr>
            <a:xfrm>
              <a:off x="0" y="-57150"/>
              <a:ext cx="3059361" cy="57598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5173329" y="5325180"/>
            <a:ext cx="11616012" cy="1527578"/>
            <a:chOff x="0" y="0"/>
            <a:chExt cx="3059361" cy="402325"/>
          </a:xfrm>
        </p:grpSpPr>
        <p:sp>
          <p:nvSpPr>
            <p:cNvPr name="Freeform 7" id="7"/>
            <p:cNvSpPr/>
            <p:nvPr/>
          </p:nvSpPr>
          <p:spPr>
            <a:xfrm flipH="false" flipV="false" rot="0">
              <a:off x="0" y="0"/>
              <a:ext cx="3059361" cy="402325"/>
            </a:xfrm>
            <a:custGeom>
              <a:avLst/>
              <a:gdLst/>
              <a:ahLst/>
              <a:cxnLst/>
              <a:rect r="r" b="b" t="t" l="l"/>
              <a:pathLst>
                <a:path h="402325" w="3059361">
                  <a:moveTo>
                    <a:pt x="16662" y="0"/>
                  </a:moveTo>
                  <a:lnTo>
                    <a:pt x="3042699" y="0"/>
                  </a:lnTo>
                  <a:cubicBezTo>
                    <a:pt x="3047118" y="0"/>
                    <a:pt x="3051356" y="1755"/>
                    <a:pt x="3054481" y="4880"/>
                  </a:cubicBezTo>
                  <a:cubicBezTo>
                    <a:pt x="3057606" y="8005"/>
                    <a:pt x="3059361" y="12243"/>
                    <a:pt x="3059361" y="16662"/>
                  </a:cubicBezTo>
                  <a:lnTo>
                    <a:pt x="3059361" y="385663"/>
                  </a:lnTo>
                  <a:cubicBezTo>
                    <a:pt x="3059361" y="394865"/>
                    <a:pt x="3051901" y="402325"/>
                    <a:pt x="3042699" y="402325"/>
                  </a:cubicBezTo>
                  <a:lnTo>
                    <a:pt x="16662" y="402325"/>
                  </a:lnTo>
                  <a:cubicBezTo>
                    <a:pt x="12243" y="402325"/>
                    <a:pt x="8005" y="400570"/>
                    <a:pt x="4880" y="397445"/>
                  </a:cubicBezTo>
                  <a:cubicBezTo>
                    <a:pt x="1755" y="394320"/>
                    <a:pt x="0" y="390082"/>
                    <a:pt x="0" y="385663"/>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8" id="8"/>
            <p:cNvSpPr txBox="true"/>
            <p:nvPr/>
          </p:nvSpPr>
          <p:spPr>
            <a:xfrm>
              <a:off x="0" y="-57150"/>
              <a:ext cx="3059361" cy="459475"/>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5179591" y="6995633"/>
            <a:ext cx="11616012" cy="1527578"/>
            <a:chOff x="0" y="0"/>
            <a:chExt cx="3059361" cy="402325"/>
          </a:xfrm>
        </p:grpSpPr>
        <p:sp>
          <p:nvSpPr>
            <p:cNvPr name="Freeform 10" id="10"/>
            <p:cNvSpPr/>
            <p:nvPr/>
          </p:nvSpPr>
          <p:spPr>
            <a:xfrm flipH="false" flipV="false" rot="0">
              <a:off x="0" y="0"/>
              <a:ext cx="3059361" cy="402325"/>
            </a:xfrm>
            <a:custGeom>
              <a:avLst/>
              <a:gdLst/>
              <a:ahLst/>
              <a:cxnLst/>
              <a:rect r="r" b="b" t="t" l="l"/>
              <a:pathLst>
                <a:path h="402325" w="3059361">
                  <a:moveTo>
                    <a:pt x="16662" y="0"/>
                  </a:moveTo>
                  <a:lnTo>
                    <a:pt x="3042699" y="0"/>
                  </a:lnTo>
                  <a:cubicBezTo>
                    <a:pt x="3047118" y="0"/>
                    <a:pt x="3051356" y="1755"/>
                    <a:pt x="3054481" y="4880"/>
                  </a:cubicBezTo>
                  <a:cubicBezTo>
                    <a:pt x="3057606" y="8005"/>
                    <a:pt x="3059361" y="12243"/>
                    <a:pt x="3059361" y="16662"/>
                  </a:cubicBezTo>
                  <a:lnTo>
                    <a:pt x="3059361" y="385663"/>
                  </a:lnTo>
                  <a:cubicBezTo>
                    <a:pt x="3059361" y="394865"/>
                    <a:pt x="3051901" y="402325"/>
                    <a:pt x="3042699" y="402325"/>
                  </a:cubicBezTo>
                  <a:lnTo>
                    <a:pt x="16662" y="402325"/>
                  </a:lnTo>
                  <a:cubicBezTo>
                    <a:pt x="12243" y="402325"/>
                    <a:pt x="8005" y="400570"/>
                    <a:pt x="4880" y="397445"/>
                  </a:cubicBezTo>
                  <a:cubicBezTo>
                    <a:pt x="1755" y="394320"/>
                    <a:pt x="0" y="390082"/>
                    <a:pt x="0" y="385663"/>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11" id="11"/>
            <p:cNvSpPr txBox="true"/>
            <p:nvPr/>
          </p:nvSpPr>
          <p:spPr>
            <a:xfrm>
              <a:off x="0" y="-57150"/>
              <a:ext cx="3059361" cy="459475"/>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5295425" y="3289706"/>
            <a:ext cx="11431881" cy="1608306"/>
          </a:xfrm>
          <a:prstGeom prst="rect">
            <a:avLst/>
          </a:prstGeom>
        </p:spPr>
        <p:txBody>
          <a:bodyPr anchor="t" rtlCol="false" tIns="0" lIns="0" bIns="0" rIns="0">
            <a:spAutoFit/>
          </a:bodyPr>
          <a:lstStyle/>
          <a:p>
            <a:pPr algn="l" marL="0" indent="0" lvl="0">
              <a:lnSpc>
                <a:spcPts val="3166"/>
              </a:lnSpc>
            </a:pPr>
            <a:r>
              <a:rPr lang="en-US" sz="2638">
                <a:solidFill>
                  <a:srgbClr val="121212"/>
                </a:solidFill>
                <a:latin typeface="Telegraf"/>
                <a:ea typeface="Telegraf"/>
                <a:cs typeface="Telegraf"/>
                <a:sym typeface="Telegraf"/>
              </a:rPr>
              <a:t>Dalam dunia modern, data tidak hanya dalam jumlah kecil seperti sampel penelitian, tetapi bisa dalam skala besar yang mencakup miliaran observasi, Statistisi yang memahami Big Data dapat bekerja dengan dataset yang jauh lebih besar dibandingkan teknik statistik tradisional.</a:t>
            </a:r>
          </a:p>
        </p:txBody>
      </p:sp>
      <p:grpSp>
        <p:nvGrpSpPr>
          <p:cNvPr name="Group 13" id="13"/>
          <p:cNvGrpSpPr/>
          <p:nvPr/>
        </p:nvGrpSpPr>
        <p:grpSpPr>
          <a:xfrm rot="0">
            <a:off x="1492397" y="3212355"/>
            <a:ext cx="3558629" cy="1969950"/>
            <a:chOff x="0" y="0"/>
            <a:chExt cx="937252" cy="518835"/>
          </a:xfrm>
        </p:grpSpPr>
        <p:sp>
          <p:nvSpPr>
            <p:cNvPr name="Freeform 14" id="14"/>
            <p:cNvSpPr/>
            <p:nvPr/>
          </p:nvSpPr>
          <p:spPr>
            <a:xfrm flipH="false" flipV="false" rot="0">
              <a:off x="0" y="0"/>
              <a:ext cx="937252" cy="518835"/>
            </a:xfrm>
            <a:custGeom>
              <a:avLst/>
              <a:gdLst/>
              <a:ahLst/>
              <a:cxnLst/>
              <a:rect r="r" b="b" t="t" l="l"/>
              <a:pathLst>
                <a:path h="518835" w="937252">
                  <a:moveTo>
                    <a:pt x="54388" y="0"/>
                  </a:moveTo>
                  <a:lnTo>
                    <a:pt x="882864" y="0"/>
                  </a:lnTo>
                  <a:cubicBezTo>
                    <a:pt x="912902" y="0"/>
                    <a:pt x="937252" y="24350"/>
                    <a:pt x="937252" y="54388"/>
                  </a:cubicBezTo>
                  <a:lnTo>
                    <a:pt x="937252" y="464446"/>
                  </a:lnTo>
                  <a:cubicBezTo>
                    <a:pt x="937252" y="478871"/>
                    <a:pt x="931522" y="492705"/>
                    <a:pt x="921322" y="502905"/>
                  </a:cubicBezTo>
                  <a:cubicBezTo>
                    <a:pt x="911122" y="513104"/>
                    <a:pt x="897289" y="518835"/>
                    <a:pt x="882864" y="518835"/>
                  </a:cubicBezTo>
                  <a:lnTo>
                    <a:pt x="54388" y="518835"/>
                  </a:lnTo>
                  <a:cubicBezTo>
                    <a:pt x="24350" y="518835"/>
                    <a:pt x="0" y="494484"/>
                    <a:pt x="0" y="464446"/>
                  </a:cubicBezTo>
                  <a:lnTo>
                    <a:pt x="0" y="54388"/>
                  </a:lnTo>
                  <a:cubicBezTo>
                    <a:pt x="0" y="24350"/>
                    <a:pt x="24350" y="0"/>
                    <a:pt x="54388" y="0"/>
                  </a:cubicBezTo>
                  <a:close/>
                </a:path>
              </a:pathLst>
            </a:custGeom>
            <a:solidFill>
              <a:srgbClr val="35CDCE"/>
            </a:solidFill>
            <a:ln cap="rnd">
              <a:noFill/>
              <a:prstDash val="solid"/>
              <a:round/>
            </a:ln>
          </p:spPr>
        </p:sp>
        <p:sp>
          <p:nvSpPr>
            <p:cNvPr name="TextBox 15" id="15"/>
            <p:cNvSpPr txBox="true"/>
            <p:nvPr/>
          </p:nvSpPr>
          <p:spPr>
            <a:xfrm>
              <a:off x="0" y="-57150"/>
              <a:ext cx="937252" cy="575985"/>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1738571" y="3593932"/>
            <a:ext cx="3066281" cy="1254420"/>
          </a:xfrm>
          <a:prstGeom prst="rect">
            <a:avLst/>
          </a:prstGeom>
        </p:spPr>
        <p:txBody>
          <a:bodyPr anchor="t" rtlCol="false" tIns="0" lIns="0" bIns="0" rIns="0">
            <a:spAutoFit/>
          </a:bodyPr>
          <a:lstStyle/>
          <a:p>
            <a:pPr algn="ctr">
              <a:lnSpc>
                <a:spcPts val="3230"/>
              </a:lnSpc>
            </a:pPr>
            <a:r>
              <a:rPr lang="en-US" b="true" sz="3230">
                <a:solidFill>
                  <a:srgbClr val="0B0727"/>
                </a:solidFill>
                <a:latin typeface="Neue Machina Ultra-Bold"/>
                <a:ea typeface="Neue Machina Ultra-Bold"/>
                <a:cs typeface="Neue Machina Ultra-Bold"/>
                <a:sym typeface="Neue Machina Ultra-Bold"/>
              </a:rPr>
              <a:t>Menghadapi Volume Data yang Besar</a:t>
            </a:r>
          </a:p>
        </p:txBody>
      </p:sp>
      <p:grpSp>
        <p:nvGrpSpPr>
          <p:cNvPr name="Group 17" id="17"/>
          <p:cNvGrpSpPr/>
          <p:nvPr/>
        </p:nvGrpSpPr>
        <p:grpSpPr>
          <a:xfrm rot="0">
            <a:off x="1492397" y="5311414"/>
            <a:ext cx="3558629" cy="1541343"/>
            <a:chOff x="0" y="0"/>
            <a:chExt cx="937252" cy="405951"/>
          </a:xfrm>
        </p:grpSpPr>
        <p:sp>
          <p:nvSpPr>
            <p:cNvPr name="Freeform 18" id="18"/>
            <p:cNvSpPr/>
            <p:nvPr/>
          </p:nvSpPr>
          <p:spPr>
            <a:xfrm flipH="false" flipV="false" rot="0">
              <a:off x="0" y="0"/>
              <a:ext cx="937252" cy="405951"/>
            </a:xfrm>
            <a:custGeom>
              <a:avLst/>
              <a:gdLst/>
              <a:ahLst/>
              <a:cxnLst/>
              <a:rect r="r" b="b" t="t" l="l"/>
              <a:pathLst>
                <a:path h="405951" w="937252">
                  <a:moveTo>
                    <a:pt x="54388" y="0"/>
                  </a:moveTo>
                  <a:lnTo>
                    <a:pt x="882864" y="0"/>
                  </a:lnTo>
                  <a:cubicBezTo>
                    <a:pt x="912902" y="0"/>
                    <a:pt x="937252" y="24350"/>
                    <a:pt x="937252" y="54388"/>
                  </a:cubicBezTo>
                  <a:lnTo>
                    <a:pt x="937252" y="351562"/>
                  </a:lnTo>
                  <a:cubicBezTo>
                    <a:pt x="937252" y="381600"/>
                    <a:pt x="912902" y="405951"/>
                    <a:pt x="882864" y="405951"/>
                  </a:cubicBezTo>
                  <a:lnTo>
                    <a:pt x="54388" y="405951"/>
                  </a:lnTo>
                  <a:cubicBezTo>
                    <a:pt x="24350" y="405951"/>
                    <a:pt x="0" y="381600"/>
                    <a:pt x="0" y="351562"/>
                  </a:cubicBezTo>
                  <a:lnTo>
                    <a:pt x="0" y="54388"/>
                  </a:lnTo>
                  <a:cubicBezTo>
                    <a:pt x="0" y="24350"/>
                    <a:pt x="24350" y="0"/>
                    <a:pt x="54388" y="0"/>
                  </a:cubicBezTo>
                  <a:close/>
                </a:path>
              </a:pathLst>
            </a:custGeom>
            <a:solidFill>
              <a:srgbClr val="35CDCE"/>
            </a:solidFill>
            <a:ln cap="rnd">
              <a:noFill/>
              <a:prstDash val="solid"/>
              <a:round/>
            </a:ln>
          </p:spPr>
        </p:sp>
        <p:sp>
          <p:nvSpPr>
            <p:cNvPr name="TextBox 19" id="19"/>
            <p:cNvSpPr txBox="true"/>
            <p:nvPr/>
          </p:nvSpPr>
          <p:spPr>
            <a:xfrm>
              <a:off x="0" y="-57150"/>
              <a:ext cx="937252" cy="463101"/>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1492397" y="5572396"/>
            <a:ext cx="3558629" cy="1080770"/>
          </a:xfrm>
          <a:prstGeom prst="rect">
            <a:avLst/>
          </a:prstGeom>
        </p:spPr>
        <p:txBody>
          <a:bodyPr anchor="t" rtlCol="false" tIns="0" lIns="0" bIns="0" rIns="0">
            <a:spAutoFit/>
          </a:bodyPr>
          <a:lstStyle/>
          <a:p>
            <a:pPr algn="ctr">
              <a:lnSpc>
                <a:spcPts val="2799"/>
              </a:lnSpc>
            </a:pPr>
            <a:r>
              <a:rPr lang="en-US" b="true" sz="2799">
                <a:solidFill>
                  <a:srgbClr val="0B0727"/>
                </a:solidFill>
                <a:latin typeface="Neue Machina Ultra-Bold"/>
                <a:ea typeface="Neue Machina Ultra-Bold"/>
                <a:cs typeface="Neue Machina Ultra-Bold"/>
                <a:sym typeface="Neue Machina Ultra-Bold"/>
              </a:rPr>
              <a:t>Mengakomodasi Berbagai Jenis Data</a:t>
            </a:r>
          </a:p>
        </p:txBody>
      </p:sp>
      <p:grpSp>
        <p:nvGrpSpPr>
          <p:cNvPr name="Group 21" id="21"/>
          <p:cNvGrpSpPr/>
          <p:nvPr/>
        </p:nvGrpSpPr>
        <p:grpSpPr>
          <a:xfrm rot="0">
            <a:off x="1492397" y="6995633"/>
            <a:ext cx="3558629" cy="1541343"/>
            <a:chOff x="0" y="0"/>
            <a:chExt cx="937252" cy="405951"/>
          </a:xfrm>
        </p:grpSpPr>
        <p:sp>
          <p:nvSpPr>
            <p:cNvPr name="Freeform 22" id="22"/>
            <p:cNvSpPr/>
            <p:nvPr/>
          </p:nvSpPr>
          <p:spPr>
            <a:xfrm flipH="false" flipV="false" rot="0">
              <a:off x="0" y="0"/>
              <a:ext cx="937252" cy="405951"/>
            </a:xfrm>
            <a:custGeom>
              <a:avLst/>
              <a:gdLst/>
              <a:ahLst/>
              <a:cxnLst/>
              <a:rect r="r" b="b" t="t" l="l"/>
              <a:pathLst>
                <a:path h="405951" w="937252">
                  <a:moveTo>
                    <a:pt x="54388" y="0"/>
                  </a:moveTo>
                  <a:lnTo>
                    <a:pt x="882864" y="0"/>
                  </a:lnTo>
                  <a:cubicBezTo>
                    <a:pt x="912902" y="0"/>
                    <a:pt x="937252" y="24350"/>
                    <a:pt x="937252" y="54388"/>
                  </a:cubicBezTo>
                  <a:lnTo>
                    <a:pt x="937252" y="351562"/>
                  </a:lnTo>
                  <a:cubicBezTo>
                    <a:pt x="937252" y="381600"/>
                    <a:pt x="912902" y="405951"/>
                    <a:pt x="882864" y="405951"/>
                  </a:cubicBezTo>
                  <a:lnTo>
                    <a:pt x="54388" y="405951"/>
                  </a:lnTo>
                  <a:cubicBezTo>
                    <a:pt x="24350" y="405951"/>
                    <a:pt x="0" y="381600"/>
                    <a:pt x="0" y="351562"/>
                  </a:cubicBezTo>
                  <a:lnTo>
                    <a:pt x="0" y="54388"/>
                  </a:lnTo>
                  <a:cubicBezTo>
                    <a:pt x="0" y="24350"/>
                    <a:pt x="24350" y="0"/>
                    <a:pt x="54388" y="0"/>
                  </a:cubicBezTo>
                  <a:close/>
                </a:path>
              </a:pathLst>
            </a:custGeom>
            <a:solidFill>
              <a:srgbClr val="35CDCE"/>
            </a:solidFill>
            <a:ln cap="rnd">
              <a:noFill/>
              <a:prstDash val="solid"/>
              <a:round/>
            </a:ln>
          </p:spPr>
        </p:sp>
        <p:sp>
          <p:nvSpPr>
            <p:cNvPr name="TextBox 23" id="23"/>
            <p:cNvSpPr txBox="true"/>
            <p:nvPr/>
          </p:nvSpPr>
          <p:spPr>
            <a:xfrm>
              <a:off x="0" y="-57150"/>
              <a:ext cx="937252" cy="463101"/>
            </a:xfrm>
            <a:prstGeom prst="rect">
              <a:avLst/>
            </a:prstGeom>
          </p:spPr>
          <p:txBody>
            <a:bodyPr anchor="ctr" rtlCol="false" tIns="50800" lIns="50800" bIns="50800" rIns="50800"/>
            <a:lstStyle/>
            <a:p>
              <a:pPr algn="ctr">
                <a:lnSpc>
                  <a:spcPts val="2940"/>
                </a:lnSpc>
              </a:pPr>
            </a:p>
          </p:txBody>
        </p:sp>
      </p:grpSp>
      <p:sp>
        <p:nvSpPr>
          <p:cNvPr name="TextBox 24" id="24"/>
          <p:cNvSpPr txBox="true"/>
          <p:nvPr/>
        </p:nvSpPr>
        <p:spPr>
          <a:xfrm rot="0">
            <a:off x="1943041" y="7242849"/>
            <a:ext cx="2750578" cy="1080770"/>
          </a:xfrm>
          <a:prstGeom prst="rect">
            <a:avLst/>
          </a:prstGeom>
        </p:spPr>
        <p:txBody>
          <a:bodyPr anchor="t" rtlCol="false" tIns="0" lIns="0" bIns="0" rIns="0">
            <a:spAutoFit/>
          </a:bodyPr>
          <a:lstStyle/>
          <a:p>
            <a:pPr algn="ctr">
              <a:lnSpc>
                <a:spcPts val="2799"/>
              </a:lnSpc>
            </a:pPr>
            <a:r>
              <a:rPr lang="en-US" b="true" sz="2799">
                <a:solidFill>
                  <a:srgbClr val="0B0727"/>
                </a:solidFill>
                <a:latin typeface="Neue Machina Ultra-Bold"/>
                <a:ea typeface="Neue Machina Ultra-Bold"/>
                <a:cs typeface="Neue Machina Ultra-Bold"/>
                <a:sym typeface="Neue Machina Ultra-Bold"/>
              </a:rPr>
              <a:t>Memperluas Peluang Karier</a:t>
            </a:r>
          </a:p>
        </p:txBody>
      </p:sp>
      <p:sp>
        <p:nvSpPr>
          <p:cNvPr name="TextBox 25" id="25"/>
          <p:cNvSpPr txBox="true"/>
          <p:nvPr/>
        </p:nvSpPr>
        <p:spPr>
          <a:xfrm rot="0">
            <a:off x="5560172" y="7099554"/>
            <a:ext cx="10922372" cy="1295400"/>
          </a:xfrm>
          <a:prstGeom prst="rect">
            <a:avLst/>
          </a:prstGeom>
        </p:spPr>
        <p:txBody>
          <a:bodyPr anchor="t" rtlCol="false" tIns="0" lIns="0" bIns="0" rIns="0">
            <a:spAutoFit/>
          </a:bodyPr>
          <a:lstStyle/>
          <a:p>
            <a:pPr algn="l" marL="0" indent="0" lvl="0">
              <a:lnSpc>
                <a:spcPts val="3359"/>
              </a:lnSpc>
            </a:pPr>
            <a:r>
              <a:rPr lang="en-US" sz="2799">
                <a:solidFill>
                  <a:srgbClr val="121212"/>
                </a:solidFill>
                <a:latin typeface="Telegraf"/>
                <a:ea typeface="Telegraf"/>
                <a:cs typeface="Telegraf"/>
                <a:sym typeface="Telegraf"/>
              </a:rPr>
              <a:t>Analisis risiko dan prediksi pasar saham, Kesehatan: Prediksi penyebaran penyakit dan analisis rekam medis elektronik, Analisis perilaku pelanggan dan strategi pemasaran berbasis data.</a:t>
            </a:r>
          </a:p>
        </p:txBody>
      </p:sp>
      <p:sp>
        <p:nvSpPr>
          <p:cNvPr name="Freeform 26" id="26"/>
          <p:cNvSpPr/>
          <p:nvPr/>
        </p:nvSpPr>
        <p:spPr>
          <a:xfrm flipH="false" flipV="false" rot="-3231471">
            <a:off x="660111" y="8677918"/>
            <a:ext cx="698049" cy="687037"/>
          </a:xfrm>
          <a:custGeom>
            <a:avLst/>
            <a:gdLst/>
            <a:ahLst/>
            <a:cxnLst/>
            <a:rect r="r" b="b" t="t" l="l"/>
            <a:pathLst>
              <a:path h="687037" w="698049">
                <a:moveTo>
                  <a:pt x="0" y="0"/>
                </a:moveTo>
                <a:lnTo>
                  <a:pt x="698048" y="0"/>
                </a:lnTo>
                <a:lnTo>
                  <a:pt x="698048" y="687037"/>
                </a:lnTo>
                <a:lnTo>
                  <a:pt x="0" y="6870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3231471">
            <a:off x="16616781" y="77348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5460520" y="5536440"/>
            <a:ext cx="11419186" cy="1400983"/>
          </a:xfrm>
          <a:prstGeom prst="rect">
            <a:avLst/>
          </a:prstGeom>
        </p:spPr>
        <p:txBody>
          <a:bodyPr anchor="t" rtlCol="false" tIns="0" lIns="0" bIns="0" rIns="0">
            <a:spAutoFit/>
          </a:bodyPr>
          <a:lstStyle/>
          <a:p>
            <a:pPr algn="l" marL="0" indent="0" lvl="0">
              <a:lnSpc>
                <a:spcPts val="2750"/>
              </a:lnSpc>
            </a:pPr>
            <a:r>
              <a:rPr lang="en-US" sz="2292">
                <a:solidFill>
                  <a:srgbClr val="121212"/>
                </a:solidFill>
                <a:latin typeface="Telegraf"/>
                <a:ea typeface="Telegraf"/>
                <a:cs typeface="Telegraf"/>
                <a:sym typeface="Telegraf"/>
              </a:rPr>
              <a:t>Data saat ini tidak hanya berbentuk angka dalam tabel (terstruktur), tetapi juga bisa berupa teks, gambar, video, dan data sensor (tidak terstruktur), Dengan Big Data, statistisi dapat menganalisis data dari berbagai sumber seperti media sosial, IoT, dan transaksi keuangan.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931881" y="4295140"/>
            <a:ext cx="12422779"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Apa Itu MongoDB</a:t>
            </a:r>
          </a:p>
        </p:txBody>
      </p:sp>
      <p:sp>
        <p:nvSpPr>
          <p:cNvPr name="Freeform 8" id="8"/>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827211" y="2069331"/>
            <a:ext cx="12391774" cy="5718953"/>
          </a:xfrm>
          <a:prstGeom prst="rect">
            <a:avLst/>
          </a:prstGeom>
        </p:spPr>
        <p:txBody>
          <a:bodyPr anchor="t" rtlCol="false" tIns="0" lIns="0" bIns="0" rIns="0">
            <a:spAutoFit/>
          </a:bodyPr>
          <a:lstStyle/>
          <a:p>
            <a:pPr algn="l" marL="0" indent="0" lvl="0">
              <a:lnSpc>
                <a:spcPts val="5043"/>
              </a:lnSpc>
            </a:pPr>
            <a:r>
              <a:rPr lang="en-US" sz="4202">
                <a:solidFill>
                  <a:srgbClr val="FFFFFF"/>
                </a:solidFill>
                <a:latin typeface="Telegraf"/>
                <a:ea typeface="Telegraf"/>
                <a:cs typeface="Telegraf"/>
                <a:sym typeface="Telegraf"/>
              </a:rPr>
              <a:t>MongoDB adalah salah satu jenis database NoSQL yang digunakan untuk menyimpan data dalam format dokumen. MongoDB berfokus pada penyimpanan data yang fleksibel, terstruktur maupun tidak terstruktur, dan dapat menangani data dalam skala besar (Big Data). Database ini sangat cocok untuk aplikasi yang memerlukan skala horizontal dan pengelolaan data yang dinamis.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2709303" y="3720508"/>
            <a:ext cx="458311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Dokumen-Oriented</a:t>
            </a:r>
          </a:p>
        </p:txBody>
      </p:sp>
      <p:sp>
        <p:nvSpPr>
          <p:cNvPr name="TextBox 8" id="8"/>
          <p:cNvSpPr txBox="true"/>
          <p:nvPr/>
        </p:nvSpPr>
        <p:spPr>
          <a:xfrm rot="0">
            <a:off x="1529768"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menyimpan data dalam format dokumen menggunakan JSON-like format yang disebut BSON (Binary JSON)</a:t>
            </a:r>
          </a:p>
        </p:txBody>
      </p:sp>
      <p:grpSp>
        <p:nvGrpSpPr>
          <p:cNvPr name="Group 9" id="9"/>
          <p:cNvGrpSpPr/>
          <p:nvPr/>
        </p:nvGrpSpPr>
        <p:grpSpPr>
          <a:xfrm rot="0">
            <a:off x="1028700" y="6295282"/>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2609429" y="6615787"/>
            <a:ext cx="4782866"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Fleksibilitas Skema</a:t>
            </a:r>
          </a:p>
        </p:txBody>
      </p:sp>
      <p:sp>
        <p:nvSpPr>
          <p:cNvPr name="TextBox 13" id="13"/>
          <p:cNvSpPr txBox="true"/>
          <p:nvPr/>
        </p:nvSpPr>
        <p:spPr>
          <a:xfrm rot="0">
            <a:off x="1443160" y="7287156"/>
            <a:ext cx="7115406" cy="857250"/>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 tidak perlu mendefinisikan struktur data di awal seperti pada database relasional.</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485058" y="3720508"/>
            <a:ext cx="560415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Skalabilitas Horizontal</a:t>
            </a:r>
          </a:p>
        </p:txBody>
      </p:sp>
      <p:sp>
        <p:nvSpPr>
          <p:cNvPr name="TextBox 18" id="18"/>
          <p:cNvSpPr txBox="true"/>
          <p:nvPr/>
        </p:nvSpPr>
        <p:spPr>
          <a:xfrm rot="0">
            <a:off x="9816043"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mendukung sharding, yang memungkinkan data dibagi di antara beberapa server.</a:t>
            </a:r>
          </a:p>
        </p:txBody>
      </p:sp>
      <p:grpSp>
        <p:nvGrpSpPr>
          <p:cNvPr name="Group 19" id="19"/>
          <p:cNvGrpSpPr/>
          <p:nvPr/>
        </p:nvGrpSpPr>
        <p:grpSpPr>
          <a:xfrm rot="0">
            <a:off x="9314975" y="6295282"/>
            <a:ext cx="7944325" cy="2229769"/>
            <a:chOff x="0" y="0"/>
            <a:chExt cx="2144539" cy="601917"/>
          </a:xfrm>
        </p:grpSpPr>
        <p:sp>
          <p:nvSpPr>
            <p:cNvPr name="Freeform 20" id="2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21" id="2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9983989" y="6615787"/>
            <a:ext cx="6774242"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Query dan Indeksasi Canggih</a:t>
            </a:r>
          </a:p>
        </p:txBody>
      </p:sp>
      <p:sp>
        <p:nvSpPr>
          <p:cNvPr name="TextBox 23" id="23"/>
          <p:cNvSpPr txBox="true"/>
          <p:nvPr/>
        </p:nvSpPr>
        <p:spPr>
          <a:xfrm rot="0">
            <a:off x="9729435" y="7381592"/>
            <a:ext cx="7302441" cy="1073002"/>
          </a:xfrm>
          <a:prstGeom prst="rect">
            <a:avLst/>
          </a:prstGeom>
        </p:spPr>
        <p:txBody>
          <a:bodyPr anchor="t" rtlCol="false" tIns="0" lIns="0" bIns="0" rIns="0">
            <a:spAutoFit/>
          </a:bodyPr>
          <a:lstStyle/>
          <a:p>
            <a:pPr algn="ctr" marL="0" indent="0" lvl="0">
              <a:lnSpc>
                <a:spcPts val="2784"/>
              </a:lnSpc>
            </a:pPr>
            <a:r>
              <a:rPr lang="en-US" sz="2320">
                <a:solidFill>
                  <a:srgbClr val="121212"/>
                </a:solidFill>
                <a:latin typeface="Telegraf"/>
                <a:ea typeface="Telegraf"/>
                <a:cs typeface="Telegraf"/>
                <a:sym typeface="Telegraf"/>
              </a:rPr>
              <a:t>MongoDB mendukung query yang kuat dan fleksibel, dengan kemampuan pencarian berbasis indeks untuk mempercepat pencarian data</a:t>
            </a:r>
          </a:p>
        </p:txBody>
      </p:sp>
      <p:grpSp>
        <p:nvGrpSpPr>
          <p:cNvPr name="Group 24" id="24"/>
          <p:cNvGrpSpPr/>
          <p:nvPr/>
        </p:nvGrpSpPr>
        <p:grpSpPr>
          <a:xfrm rot="0">
            <a:off x="-372081" y="9258300"/>
            <a:ext cx="19032161" cy="1438558"/>
            <a:chOff x="0" y="0"/>
            <a:chExt cx="5137657" cy="388333"/>
          </a:xfrm>
        </p:grpSpPr>
        <p:sp>
          <p:nvSpPr>
            <p:cNvPr name="Freeform 25" id="25"/>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6" id="26"/>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7" id="27"/>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2709303" y="3720508"/>
            <a:ext cx="458311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Database</a:t>
            </a:r>
          </a:p>
        </p:txBody>
      </p:sp>
      <p:sp>
        <p:nvSpPr>
          <p:cNvPr name="TextBox 8" id="8"/>
          <p:cNvSpPr txBox="true"/>
          <p:nvPr/>
        </p:nvSpPr>
        <p:spPr>
          <a:xfrm rot="0">
            <a:off x="1529768" y="4249197"/>
            <a:ext cx="6942188" cy="44767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unit yang mengorganisir koleksi data</a:t>
            </a:r>
          </a:p>
        </p:txBody>
      </p:sp>
      <p:grpSp>
        <p:nvGrpSpPr>
          <p:cNvPr name="Group 9" id="9"/>
          <p:cNvGrpSpPr/>
          <p:nvPr/>
        </p:nvGrpSpPr>
        <p:grpSpPr>
          <a:xfrm rot="0">
            <a:off x="5342812" y="6553890"/>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6923542" y="6874395"/>
            <a:ext cx="4782866"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Document</a:t>
            </a:r>
          </a:p>
        </p:txBody>
      </p:sp>
      <p:sp>
        <p:nvSpPr>
          <p:cNvPr name="TextBox 13" id="13"/>
          <p:cNvSpPr txBox="true"/>
          <p:nvPr/>
        </p:nvSpPr>
        <p:spPr>
          <a:xfrm rot="0">
            <a:off x="5757272" y="7545764"/>
            <a:ext cx="7115406" cy="857250"/>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Entitas data yang disimpan dalam BSON (Binary JSON) format</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485058" y="3720508"/>
            <a:ext cx="560415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Collection</a:t>
            </a:r>
          </a:p>
        </p:txBody>
      </p:sp>
      <p:sp>
        <p:nvSpPr>
          <p:cNvPr name="TextBox 18" id="18"/>
          <p:cNvSpPr txBox="true"/>
          <p:nvPr/>
        </p:nvSpPr>
        <p:spPr>
          <a:xfrm rot="0">
            <a:off x="9816043" y="4249197"/>
            <a:ext cx="6942188" cy="857250"/>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Sekumpulan dokumen yang setara dengan tabel dalam database relasional</a:t>
            </a:r>
          </a:p>
        </p:txBody>
      </p:sp>
      <p:grpSp>
        <p:nvGrpSpPr>
          <p:cNvPr name="Group 19" id="19"/>
          <p:cNvGrpSpPr/>
          <p:nvPr/>
        </p:nvGrpSpPr>
        <p:grpSpPr>
          <a:xfrm rot="0">
            <a:off x="-372081" y="9258300"/>
            <a:ext cx="19032161" cy="1438558"/>
            <a:chOff x="0" y="0"/>
            <a:chExt cx="5137657" cy="388333"/>
          </a:xfrm>
        </p:grpSpPr>
        <p:sp>
          <p:nvSpPr>
            <p:cNvPr name="Freeform 20" id="20"/>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1" id="21"/>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2" id="22"/>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197271" y="3453542"/>
            <a:ext cx="7775754" cy="83375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Tidak Terlalu Tepat untuk Transaksi yang Sangat Kompleks</a:t>
            </a:r>
          </a:p>
        </p:txBody>
      </p:sp>
      <p:sp>
        <p:nvSpPr>
          <p:cNvPr name="TextBox 8" id="8"/>
          <p:cNvSpPr txBox="true"/>
          <p:nvPr/>
        </p:nvSpPr>
        <p:spPr>
          <a:xfrm rot="0">
            <a:off x="1358794" y="4249197"/>
            <a:ext cx="7614232" cy="1676400"/>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database ini tidak sekuat database relasional dalam hal ACID (Atomicity, Consistency, Isolation, Durability) dan pengelolaan transaksi yang sangat kompleks.</a:t>
            </a:r>
          </a:p>
        </p:txBody>
      </p:sp>
      <p:grpSp>
        <p:nvGrpSpPr>
          <p:cNvPr name="Group 9" id="9"/>
          <p:cNvGrpSpPr/>
          <p:nvPr/>
        </p:nvGrpSpPr>
        <p:grpSpPr>
          <a:xfrm rot="0">
            <a:off x="5426785" y="6490133"/>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6003992" y="6810638"/>
            <a:ext cx="7120005"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Kurangnya Standarisasi Query</a:t>
            </a:r>
          </a:p>
        </p:txBody>
      </p:sp>
      <p:sp>
        <p:nvSpPr>
          <p:cNvPr name="TextBox 13" id="13"/>
          <p:cNvSpPr txBox="true"/>
          <p:nvPr/>
        </p:nvSpPr>
        <p:spPr>
          <a:xfrm rot="0">
            <a:off x="5841245" y="7482007"/>
            <a:ext cx="7115406" cy="447675"/>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menggunakan query berbasis JavaScript</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234523" y="3453542"/>
            <a:ext cx="6273174" cy="83375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Pengelolaan Memori yang Lebih Boros</a:t>
            </a:r>
          </a:p>
        </p:txBody>
      </p:sp>
      <p:sp>
        <p:nvSpPr>
          <p:cNvPr name="TextBox 18" id="18"/>
          <p:cNvSpPr txBox="true"/>
          <p:nvPr/>
        </p:nvSpPr>
        <p:spPr>
          <a:xfrm rot="0">
            <a:off x="9816043"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mendukung sharding, yang memungkinkan data dibagi di antara beberapa server.</a:t>
            </a:r>
          </a:p>
        </p:txBody>
      </p:sp>
      <p:grpSp>
        <p:nvGrpSpPr>
          <p:cNvPr name="Group 19" id="19"/>
          <p:cNvGrpSpPr/>
          <p:nvPr/>
        </p:nvGrpSpPr>
        <p:grpSpPr>
          <a:xfrm rot="0">
            <a:off x="-372081" y="9258300"/>
            <a:ext cx="19032161" cy="1438558"/>
            <a:chOff x="0" y="0"/>
            <a:chExt cx="5137657" cy="388333"/>
          </a:xfrm>
        </p:grpSpPr>
        <p:sp>
          <p:nvSpPr>
            <p:cNvPr name="Freeform 20" id="20"/>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1" id="21"/>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2" id="22"/>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931881" y="4295140"/>
            <a:ext cx="9859352" cy="3277235"/>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Cara mengintegrasikan dan import data ke MongoDB</a:t>
            </a:r>
          </a:p>
        </p:txBody>
      </p:sp>
      <p:sp>
        <p:nvSpPr>
          <p:cNvPr name="Freeform 8" id="8"/>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607273" y="707395"/>
            <a:ext cx="12254094" cy="8271514"/>
          </a:xfrm>
          <a:custGeom>
            <a:avLst/>
            <a:gdLst/>
            <a:ahLst/>
            <a:cxnLst/>
            <a:rect r="r" b="b" t="t" l="l"/>
            <a:pathLst>
              <a:path h="8271514" w="12254094">
                <a:moveTo>
                  <a:pt x="0" y="0"/>
                </a:moveTo>
                <a:lnTo>
                  <a:pt x="12254095" y="0"/>
                </a:lnTo>
                <a:lnTo>
                  <a:pt x="12254095" y="8271514"/>
                </a:lnTo>
                <a:lnTo>
                  <a:pt x="0" y="8271514"/>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536139" y="800076"/>
            <a:ext cx="12263505" cy="7649361"/>
          </a:xfrm>
          <a:custGeom>
            <a:avLst/>
            <a:gdLst/>
            <a:ahLst/>
            <a:cxnLst/>
            <a:rect r="r" b="b" t="t" l="l"/>
            <a:pathLst>
              <a:path h="7649361" w="12263505">
                <a:moveTo>
                  <a:pt x="0" y="0"/>
                </a:moveTo>
                <a:lnTo>
                  <a:pt x="12263505" y="0"/>
                </a:lnTo>
                <a:lnTo>
                  <a:pt x="12263505" y="7649361"/>
                </a:lnTo>
                <a:lnTo>
                  <a:pt x="0" y="7649361"/>
                </a:lnTo>
                <a:lnTo>
                  <a:pt x="0" y="0"/>
                </a:lnTo>
                <a:close/>
              </a:path>
            </a:pathLst>
          </a:custGeom>
          <a:blipFill>
            <a:blip r:embed="rId8"/>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1465349" y="-1579382"/>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371586" y="1374545"/>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050148" y="2714231"/>
            <a:ext cx="6544069" cy="6544069"/>
          </a:xfrm>
          <a:custGeom>
            <a:avLst/>
            <a:gdLst/>
            <a:ahLst/>
            <a:cxnLst/>
            <a:rect r="r" b="b" t="t" l="l"/>
            <a:pathLst>
              <a:path h="6544069" w="6544069">
                <a:moveTo>
                  <a:pt x="0" y="0"/>
                </a:moveTo>
                <a:lnTo>
                  <a:pt x="6544069" y="0"/>
                </a:lnTo>
                <a:lnTo>
                  <a:pt x="6544069" y="6544069"/>
                </a:lnTo>
                <a:lnTo>
                  <a:pt x="0" y="6544069"/>
                </a:lnTo>
                <a:lnTo>
                  <a:pt x="0" y="0"/>
                </a:lnTo>
                <a:close/>
              </a:path>
            </a:pathLst>
          </a:custGeom>
          <a:blipFill>
            <a:blip r:embed="rId8"/>
            <a:stretch>
              <a:fillRect l="0" t="0" r="0" b="0"/>
            </a:stretch>
          </a:blipFill>
        </p:spPr>
      </p:sp>
      <p:sp>
        <p:nvSpPr>
          <p:cNvPr name="TextBox 6" id="6"/>
          <p:cNvSpPr txBox="true"/>
          <p:nvPr/>
        </p:nvSpPr>
        <p:spPr>
          <a:xfrm rot="0">
            <a:off x="1611679" y="1602976"/>
            <a:ext cx="4893605"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DAGe5S_FBPs</dc:identifier>
  <dcterms:modified xsi:type="dcterms:W3CDTF">2011-08-01T06:04:30Z</dcterms:modified>
  <cp:revision>1</cp:revision>
  <dc:title>Basis Data Lanjutan</dc:title>
</cp:coreProperties>
</file>